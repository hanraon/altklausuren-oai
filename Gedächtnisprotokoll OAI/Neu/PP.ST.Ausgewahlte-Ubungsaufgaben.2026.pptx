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16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9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71102-41A0-47DF-8226-4A9B9CEEB14A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B548A-A48A-4501-9635-ED5E964D00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0583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71102-41A0-47DF-8226-4A9B9CEEB14A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B548A-A48A-4501-9635-ED5E964D00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0936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71102-41A0-47DF-8226-4A9B9CEEB14A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B548A-A48A-4501-9635-ED5E964D00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698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71102-41A0-47DF-8226-4A9B9CEEB14A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B548A-A48A-4501-9635-ED5E964D00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5338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71102-41A0-47DF-8226-4A9B9CEEB14A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B548A-A48A-4501-9635-ED5E964D00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0640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71102-41A0-47DF-8226-4A9B9CEEB14A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B548A-A48A-4501-9635-ED5E964D00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8669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71102-41A0-47DF-8226-4A9B9CEEB14A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B548A-A48A-4501-9635-ED5E964D00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8791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71102-41A0-47DF-8226-4A9B9CEEB14A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B548A-A48A-4501-9635-ED5E964D00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9122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71102-41A0-47DF-8226-4A9B9CEEB14A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B548A-A48A-4501-9635-ED5E964D00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7791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71102-41A0-47DF-8226-4A9B9CEEB14A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B548A-A48A-4501-9635-ED5E964D00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0210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71102-41A0-47DF-8226-4A9B9CEEB14A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B548A-A48A-4501-9635-ED5E964D00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6384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371102-41A0-47DF-8226-4A9B9CEEB14A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FB548A-A48A-4501-9635-ED5E964D00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2449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593571" y="1147156"/>
            <a:ext cx="695775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Ausgewählte Übungsaufgaben zur Klausurvorbereitung  </a:t>
            </a:r>
          </a:p>
          <a:p>
            <a:r>
              <a:rPr lang="de-DE" dirty="0"/>
              <a:t>Teilgebiet Steuerlehre im SS 2026                                                                  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A	Grundlagen		1 , 2 , 5 , 12 , 13 , 18</a:t>
            </a:r>
            <a:br>
              <a:rPr lang="de-DE" dirty="0"/>
            </a:br>
            <a:endParaRPr lang="de-DE" dirty="0"/>
          </a:p>
          <a:p>
            <a:r>
              <a:rPr lang="de-DE" dirty="0"/>
              <a:t>B	Einkommensteuer		2 , 3 , 4 , 8 , 9 , 12 , 13</a:t>
            </a:r>
          </a:p>
          <a:p>
            <a:endParaRPr lang="de-DE" dirty="0"/>
          </a:p>
          <a:p>
            <a:r>
              <a:rPr lang="de-DE" dirty="0"/>
              <a:t>C	Umsatzsteuer 		5 , 6 , 8 , 10 , 13 , 14 </a:t>
            </a:r>
            <a:br>
              <a:rPr lang="de-DE" dirty="0"/>
            </a:br>
            <a:endParaRPr lang="de-DE" dirty="0"/>
          </a:p>
          <a:p>
            <a:endParaRPr lang="de-DE" dirty="0"/>
          </a:p>
        </p:txBody>
      </p:sp>
      <p:cxnSp>
        <p:nvCxnSpPr>
          <p:cNvPr id="4" name="Gerader Verbinder 3"/>
          <p:cNvCxnSpPr/>
          <p:nvPr/>
        </p:nvCxnSpPr>
        <p:spPr>
          <a:xfrm flipV="1">
            <a:off x="2668385" y="1837113"/>
            <a:ext cx="6442364" cy="249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5196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593571" y="1147156"/>
            <a:ext cx="695775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( A 1 ) </a:t>
            </a:r>
          </a:p>
          <a:p>
            <a:endParaRPr lang="de-DE" dirty="0"/>
          </a:p>
          <a:p>
            <a:r>
              <a:rPr lang="de-DE" dirty="0"/>
              <a:t>Nehmen Sie eine Einteilung der Steuern vor</a:t>
            </a:r>
          </a:p>
          <a:p>
            <a:endParaRPr lang="de-DE" dirty="0"/>
          </a:p>
          <a:p>
            <a:r>
              <a:rPr lang="de-DE" dirty="0"/>
              <a:t>---   nach ihrer wirtschaftlichen Auswirkung ( direkt – indirekt ) </a:t>
            </a:r>
          </a:p>
          <a:p>
            <a:endParaRPr lang="de-DE" dirty="0"/>
          </a:p>
          <a:p>
            <a:r>
              <a:rPr lang="de-DE" dirty="0"/>
              <a:t>---   nach ihrer Ertragshoheit ( wem fließen die Steuereinnahmen zu )</a:t>
            </a:r>
          </a:p>
          <a:p>
            <a:endParaRPr lang="de-DE" dirty="0"/>
          </a:p>
          <a:p>
            <a:r>
              <a:rPr lang="de-DE" dirty="0"/>
              <a:t>Ordnen Sie beispielhaft verschiedene Steuern zu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Warum ist es politisch schwierig, eine Landessteuer abzuschaffen</a:t>
            </a:r>
          </a:p>
          <a:p>
            <a:r>
              <a:rPr lang="de-DE" dirty="0"/>
              <a:t>und durch eine bundeseinheitlich geregelte Steuer zu ersetzen ?</a:t>
            </a:r>
          </a:p>
          <a:p>
            <a:br>
              <a:rPr lang="de-DE" dirty="0"/>
            </a:b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55030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593571" y="1147156"/>
            <a:ext cx="695775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Ertragshoheit</a:t>
            </a:r>
          </a:p>
          <a:p>
            <a:r>
              <a:rPr lang="de-DE" dirty="0"/>
              <a:t>„ wer erhält die Steuereinnahmen“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Bundessteuern		Mineralölsteuer, Tabaksteuer, Zölle</a:t>
            </a:r>
          </a:p>
          <a:p>
            <a:endParaRPr lang="de-DE" dirty="0"/>
          </a:p>
          <a:p>
            <a:r>
              <a:rPr lang="de-DE" dirty="0"/>
              <a:t>Landessteuern		Erbschaftsteuer, Biersteuer</a:t>
            </a:r>
          </a:p>
          <a:p>
            <a:endParaRPr lang="de-DE" dirty="0"/>
          </a:p>
          <a:p>
            <a:r>
              <a:rPr lang="de-DE" dirty="0"/>
              <a:t>Gemeindesteuern		Gewerbesteuer, Grundsteuer, Hundesteuer</a:t>
            </a:r>
          </a:p>
          <a:p>
            <a:endParaRPr lang="de-DE" dirty="0"/>
          </a:p>
          <a:p>
            <a:r>
              <a:rPr lang="de-DE" dirty="0" err="1"/>
              <a:t>Gemeinschaftsteuern</a:t>
            </a:r>
            <a:r>
              <a:rPr lang="de-DE" dirty="0"/>
              <a:t>	Aufteilung auf Bund-Länder-Gemeinden</a:t>
            </a:r>
          </a:p>
          <a:p>
            <a:r>
              <a:rPr lang="de-DE" dirty="0"/>
              <a:t>			Einkommensteuer, Körperschaftsteuer</a:t>
            </a:r>
          </a:p>
          <a:p>
            <a:r>
              <a:rPr lang="de-DE" dirty="0"/>
              <a:t>			Umsatzsteuer</a:t>
            </a:r>
          </a:p>
          <a:p>
            <a:endParaRPr lang="de-DE" dirty="0"/>
          </a:p>
          <a:p>
            <a:r>
              <a:rPr lang="de-DE" dirty="0"/>
              <a:t>( geregelt im Grundgesetz )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17512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219499" y="1147156"/>
            <a:ext cx="825453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Wirtschaftliche Auswirkung                                                                                                             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Steuerschuldner		zahlt die Steuer an das Finanzamt</a:t>
            </a:r>
          </a:p>
          <a:p>
            <a:endParaRPr lang="de-DE" dirty="0"/>
          </a:p>
          <a:p>
            <a:r>
              <a:rPr lang="de-DE" dirty="0"/>
              <a:t>Steuerträger		wird mit der Steuer wirtschaftlich belastet        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direkte Steuer		Steuerschuldner gleich Steuerträger</a:t>
            </a:r>
          </a:p>
          <a:p>
            <a:r>
              <a:rPr lang="de-DE" dirty="0"/>
              <a:t>			Einkommensteuer, Kfz-Steuer, Erbschaftsteuer</a:t>
            </a:r>
          </a:p>
          <a:p>
            <a:endParaRPr lang="de-DE" dirty="0"/>
          </a:p>
          <a:p>
            <a:r>
              <a:rPr lang="de-DE" dirty="0"/>
              <a:t>indirekte Steuer		Steuerschuldner nicht Steuerträger</a:t>
            </a:r>
          </a:p>
          <a:p>
            <a:r>
              <a:rPr lang="de-DE" dirty="0"/>
              <a:t>			Umsatzsteuer, Versicherungssteuer, Mineralölsteuer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54283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219499" y="1147156"/>
            <a:ext cx="825453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( A 2 )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Verspätungszuschlag</a:t>
            </a:r>
          </a:p>
          <a:p>
            <a:endParaRPr lang="de-DE" dirty="0"/>
          </a:p>
          <a:p>
            <a:r>
              <a:rPr lang="de-DE" dirty="0"/>
              <a:t>verspätete Abgabe einer Steuererklärung oder Steueranmeldung</a:t>
            </a:r>
          </a:p>
          <a:p>
            <a:r>
              <a:rPr lang="de-DE" dirty="0"/>
              <a:t>0,25 % der festgesetzten Steuer pro angefangenem und vollem Monat</a:t>
            </a:r>
          </a:p>
          <a:p>
            <a:r>
              <a:rPr lang="de-DE" dirty="0"/>
              <a:t>mindestens 25 Euro und</a:t>
            </a:r>
          </a:p>
          <a:p>
            <a:r>
              <a:rPr lang="de-DE" dirty="0"/>
              <a:t>höchstens 25.000 Euro 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Säumniszuschlag</a:t>
            </a:r>
          </a:p>
          <a:p>
            <a:endParaRPr lang="de-DE" dirty="0"/>
          </a:p>
          <a:p>
            <a:r>
              <a:rPr lang="de-DE" dirty="0"/>
              <a:t>verspätete Zahlung einer Steuer</a:t>
            </a:r>
          </a:p>
          <a:p>
            <a:r>
              <a:rPr lang="de-DE" dirty="0"/>
              <a:t>1 % für jeden angefangenen und für jeden vollen Monat</a:t>
            </a:r>
          </a:p>
          <a:p>
            <a:endParaRPr lang="de-DE" dirty="0"/>
          </a:p>
          <a:p>
            <a:r>
              <a:rPr lang="de-DE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398016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219499" y="1147156"/>
            <a:ext cx="825453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( A 5 )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Mineralölsteuer				indirekt</a:t>
            </a:r>
          </a:p>
          <a:p>
            <a:r>
              <a:rPr lang="de-DE" dirty="0"/>
              <a:t>Erbschaftsteuer			direkt</a:t>
            </a:r>
          </a:p>
          <a:p>
            <a:r>
              <a:rPr lang="de-DE" dirty="0"/>
              <a:t>Tabaksteuer				indirekt</a:t>
            </a:r>
          </a:p>
          <a:p>
            <a:r>
              <a:rPr lang="de-DE" dirty="0"/>
              <a:t>Biersteuer				indirekt</a:t>
            </a:r>
          </a:p>
          <a:p>
            <a:r>
              <a:rPr lang="de-DE" dirty="0"/>
              <a:t>Einkommensteuer			direkt</a:t>
            </a:r>
          </a:p>
          <a:p>
            <a:r>
              <a:rPr lang="de-DE" dirty="0"/>
              <a:t>Umsatzsteuer				indirekt</a:t>
            </a:r>
          </a:p>
          <a:p>
            <a:r>
              <a:rPr lang="de-DE" dirty="0"/>
              <a:t>Zölle				direkt</a:t>
            </a:r>
          </a:p>
          <a:p>
            <a:r>
              <a:rPr lang="de-DE" dirty="0"/>
              <a:t>Vermögensteuer			direkt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007638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219499" y="1147156"/>
            <a:ext cx="825453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( A 12 )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Was unterscheidet die Steuererklärung von der Steueranmeldung ?</a:t>
            </a:r>
          </a:p>
          <a:p>
            <a:endParaRPr lang="de-DE" dirty="0"/>
          </a:p>
          <a:p>
            <a:r>
              <a:rPr lang="de-DE" dirty="0"/>
              <a:t>Welche Auswirkung hat dies für die Verwaltungstätigkeit</a:t>
            </a:r>
          </a:p>
          <a:p>
            <a:r>
              <a:rPr lang="de-DE" dirty="0"/>
              <a:t>bei der Finanzbehörde und beim Steuerpflichtigen ?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4261011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219499" y="1147156"/>
            <a:ext cx="825453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Steuererklärung</a:t>
            </a:r>
          </a:p>
          <a:p>
            <a:endParaRPr lang="de-DE" dirty="0"/>
          </a:p>
          <a:p>
            <a:r>
              <a:rPr lang="de-DE" dirty="0"/>
              <a:t>Der Steuerpflichtige gibt dem Finanzamt seine Daten</a:t>
            </a:r>
          </a:p>
          <a:p>
            <a:r>
              <a:rPr lang="de-DE" dirty="0"/>
              <a:t>die Behörde ermittelt die Steuerschuld und setzt sie</a:t>
            </a:r>
          </a:p>
          <a:p>
            <a:r>
              <a:rPr lang="de-DE" dirty="0"/>
              <a:t>mit einem Steuerbescheid fest. </a:t>
            </a:r>
          </a:p>
          <a:p>
            <a:r>
              <a:rPr lang="de-DE" dirty="0"/>
              <a:t>Dieser Vorgang heißt „Veranlagung“.</a:t>
            </a:r>
          </a:p>
          <a:p>
            <a:endParaRPr lang="de-DE" dirty="0"/>
          </a:p>
          <a:p>
            <a:r>
              <a:rPr lang="de-DE" dirty="0"/>
              <a:t>Beispiele</a:t>
            </a:r>
          </a:p>
          <a:p>
            <a:endParaRPr lang="de-DE" dirty="0"/>
          </a:p>
          <a:p>
            <a:r>
              <a:rPr lang="de-DE" dirty="0"/>
              <a:t>Einkommensteuererklärung</a:t>
            </a:r>
          </a:p>
          <a:p>
            <a:r>
              <a:rPr lang="de-DE" dirty="0"/>
              <a:t>Erbschaftsteuererklärung</a:t>
            </a:r>
          </a:p>
          <a:p>
            <a:r>
              <a:rPr lang="de-DE" dirty="0"/>
              <a:t>Gewerbesteuererklärung</a:t>
            </a:r>
          </a:p>
          <a:p>
            <a:endParaRPr lang="de-DE" dirty="0"/>
          </a:p>
          <a:p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99294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219499" y="1147156"/>
            <a:ext cx="825453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Steueranmeldung </a:t>
            </a:r>
          </a:p>
          <a:p>
            <a:endParaRPr lang="de-DE" dirty="0"/>
          </a:p>
          <a:p>
            <a:r>
              <a:rPr lang="de-DE" dirty="0"/>
              <a:t>Der Steuerpflichtige berechnet selbst seine Steuerschuld,</a:t>
            </a:r>
          </a:p>
          <a:p>
            <a:r>
              <a:rPr lang="de-DE" dirty="0"/>
              <a:t>meldet sie dem Finanzamt an und zahlt sie zur Fälligkeit.</a:t>
            </a:r>
          </a:p>
          <a:p>
            <a:r>
              <a:rPr lang="de-DE" dirty="0"/>
              <a:t>Ein Steuerbescheid wird nur erlassen, wenn das Finanzamt</a:t>
            </a:r>
          </a:p>
          <a:p>
            <a:r>
              <a:rPr lang="de-DE" dirty="0"/>
              <a:t>von der Steueranmeldung abweicht.</a:t>
            </a:r>
          </a:p>
          <a:p>
            <a:endParaRPr lang="de-DE" dirty="0"/>
          </a:p>
          <a:p>
            <a:r>
              <a:rPr lang="de-DE" dirty="0"/>
              <a:t>Es handelt sich um eine Art „Selbstveranlagung“</a:t>
            </a:r>
          </a:p>
          <a:p>
            <a:endParaRPr lang="de-DE" dirty="0"/>
          </a:p>
          <a:p>
            <a:r>
              <a:rPr lang="de-DE" dirty="0"/>
              <a:t>In den Gesetzen zu den einzelnen Steuerarten ist geregelt,</a:t>
            </a:r>
          </a:p>
          <a:p>
            <a:r>
              <a:rPr lang="de-DE" dirty="0"/>
              <a:t>ob das Erklärungs- oder das Anmeldungsverfahren angewandt wird.</a:t>
            </a:r>
          </a:p>
          <a:p>
            <a:endParaRPr lang="de-DE" dirty="0"/>
          </a:p>
          <a:p>
            <a:r>
              <a:rPr lang="de-DE" dirty="0"/>
              <a:t>Beispiele</a:t>
            </a:r>
          </a:p>
          <a:p>
            <a:endParaRPr lang="de-DE" dirty="0"/>
          </a:p>
          <a:p>
            <a:r>
              <a:rPr lang="de-DE" dirty="0"/>
              <a:t>Umsatzsteuervoranmeldung</a:t>
            </a:r>
          </a:p>
          <a:p>
            <a:r>
              <a:rPr lang="de-DE" dirty="0"/>
              <a:t>Lohnsteueranmeldung</a:t>
            </a:r>
          </a:p>
          <a:p>
            <a:r>
              <a:rPr lang="de-DE" dirty="0" err="1"/>
              <a:t>Kapitalertragsteueranmeldung</a:t>
            </a:r>
            <a:endParaRPr lang="de-DE" dirty="0"/>
          </a:p>
          <a:p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87600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219499" y="1147156"/>
            <a:ext cx="825453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( A 13 )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Das Finanzamt gibt den Steuerbescheid 01 für Klaus Kleinlich</a:t>
            </a:r>
          </a:p>
          <a:p>
            <a:r>
              <a:rPr lang="de-DE" dirty="0"/>
              <a:t>am 22.05.02 mit gewöhnlichem Brief zur Post.</a:t>
            </a:r>
          </a:p>
          <a:p>
            <a:endParaRPr lang="de-DE" dirty="0"/>
          </a:p>
          <a:p>
            <a:r>
              <a:rPr lang="de-DE" dirty="0"/>
              <a:t>Am 23.05.02 wird er bei Kleinlich in den Briefkasten geworfen.</a:t>
            </a:r>
          </a:p>
          <a:p>
            <a:endParaRPr lang="de-DE" dirty="0"/>
          </a:p>
          <a:p>
            <a:r>
              <a:rPr lang="de-DE" dirty="0"/>
              <a:t>Kleinlich legt Einspruch gegen diesen Bescheid ein.</a:t>
            </a:r>
          </a:p>
          <a:p>
            <a:endParaRPr lang="de-DE" dirty="0"/>
          </a:p>
          <a:p>
            <a:r>
              <a:rPr lang="de-DE" dirty="0"/>
              <a:t>Der Einspruch geht am 25.06.02 beim Finanzamt ein.</a:t>
            </a:r>
          </a:p>
          <a:p>
            <a:endParaRPr lang="de-DE" dirty="0"/>
          </a:p>
          <a:p>
            <a:r>
              <a:rPr lang="de-DE" dirty="0"/>
              <a:t>Ist das noch rechtzeitig ?</a:t>
            </a:r>
          </a:p>
          <a:p>
            <a:endParaRPr lang="de-DE" dirty="0"/>
          </a:p>
          <a:p>
            <a:r>
              <a:rPr lang="de-DE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416708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219499" y="1147156"/>
            <a:ext cx="825453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Wird ein Steuerbescheid mittels einfachem Brief erlassen,</a:t>
            </a:r>
          </a:p>
          <a:p>
            <a:r>
              <a:rPr lang="de-DE" dirty="0"/>
              <a:t>so gilt dieser als bekanntgegeben am vierten Tag nach Aufgabe zur Post.</a:t>
            </a:r>
          </a:p>
          <a:p>
            <a:r>
              <a:rPr lang="de-DE" dirty="0"/>
              <a:t>Dies nennt man die „Zugangsvermutung“.</a:t>
            </a:r>
          </a:p>
          <a:p>
            <a:endParaRPr lang="de-DE" dirty="0"/>
          </a:p>
          <a:p>
            <a:r>
              <a:rPr lang="de-DE" dirty="0"/>
              <a:t>Sie gilt nicht, falls der Bescheid nicht oder zu einem späteren Zeitpunkt</a:t>
            </a:r>
          </a:p>
          <a:p>
            <a:r>
              <a:rPr lang="de-DE" dirty="0"/>
              <a:t>zugegangen ist.</a:t>
            </a:r>
          </a:p>
          <a:p>
            <a:endParaRPr lang="de-DE" dirty="0"/>
          </a:p>
          <a:p>
            <a:r>
              <a:rPr lang="de-DE" dirty="0"/>
              <a:t>Im Zweifel trifft die Behörde die Nachweispflicht.</a:t>
            </a:r>
          </a:p>
          <a:p>
            <a:endParaRPr lang="de-DE" dirty="0"/>
          </a:p>
          <a:p>
            <a:r>
              <a:rPr lang="de-DE" dirty="0"/>
              <a:t>Wird der Bescheid mittels Postzustellungsurkunde oder Einschreibebrief</a:t>
            </a:r>
          </a:p>
          <a:p>
            <a:r>
              <a:rPr lang="de-DE" dirty="0"/>
              <a:t>erlassen, so wird der Zeitpunkt der Bekanntgabe exakt dokumentiert.</a:t>
            </a:r>
          </a:p>
          <a:p>
            <a:r>
              <a:rPr lang="de-DE" dirty="0"/>
              <a:t>Die Zugangsvermutung gilt hier nicht.</a:t>
            </a:r>
          </a:p>
          <a:p>
            <a:endParaRPr lang="de-DE" dirty="0"/>
          </a:p>
          <a:p>
            <a:r>
              <a:rPr lang="de-DE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587447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219499" y="1147156"/>
            <a:ext cx="825453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de-DE" dirty="0"/>
            </a:br>
            <a:r>
              <a:rPr lang="de-DE" dirty="0"/>
              <a:t>Die Einspruchsfrist beträgt exakt einen Monat nach Bekanntgabe des Bescheides.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Aufgabe zur Post am 22.05.02</a:t>
            </a:r>
          </a:p>
          <a:p>
            <a:endParaRPr lang="de-DE" dirty="0"/>
          </a:p>
          <a:p>
            <a:r>
              <a:rPr lang="de-DE" dirty="0"/>
              <a:t>gilt als bekannt gegeben am 26.05.02</a:t>
            </a:r>
          </a:p>
          <a:p>
            <a:endParaRPr lang="de-DE" dirty="0"/>
          </a:p>
          <a:p>
            <a:r>
              <a:rPr lang="de-DE" dirty="0"/>
              <a:t>Die Einspruchsfrist endet am 26.06.02 um 24:00 Uhr</a:t>
            </a:r>
          </a:p>
          <a:p>
            <a:endParaRPr lang="de-DE" dirty="0"/>
          </a:p>
          <a:p>
            <a:r>
              <a:rPr lang="de-DE" dirty="0"/>
              <a:t>Der Einspruch von Kleinlich ist also noch fristgerecht erfolgt</a:t>
            </a:r>
          </a:p>
          <a:p>
            <a:endParaRPr lang="de-DE" dirty="0"/>
          </a:p>
          <a:p>
            <a:r>
              <a:rPr lang="de-DE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2162929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219499" y="1147156"/>
            <a:ext cx="825453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de-DE" dirty="0"/>
            </a:br>
            <a:r>
              <a:rPr lang="de-DE" dirty="0"/>
              <a:t>Fällt der letzte Tag der Frist auf einen </a:t>
            </a:r>
          </a:p>
          <a:p>
            <a:r>
              <a:rPr lang="de-DE" dirty="0"/>
              <a:t>Samstag, Sonntag oder gesetzlichen Feiertag</a:t>
            </a:r>
          </a:p>
          <a:p>
            <a:endParaRPr lang="de-DE" dirty="0"/>
          </a:p>
          <a:p>
            <a:r>
              <a:rPr lang="de-DE" dirty="0"/>
              <a:t>so verlängert sich die Frist automatisch </a:t>
            </a:r>
          </a:p>
          <a:p>
            <a:r>
              <a:rPr lang="de-DE" dirty="0"/>
              <a:t>bis zum nächsten Werktag um 24:00 Uhr.</a:t>
            </a:r>
          </a:p>
          <a:p>
            <a:endParaRPr lang="de-DE" dirty="0"/>
          </a:p>
          <a:p>
            <a:r>
              <a:rPr lang="de-DE" dirty="0"/>
              <a:t>Diese Sonderregelung im Steuerrecht </a:t>
            </a:r>
          </a:p>
          <a:p>
            <a:r>
              <a:rPr lang="de-DE" dirty="0"/>
              <a:t>soll dem Steuerpflichtigen die Möglichkeit geben,</a:t>
            </a:r>
          </a:p>
          <a:p>
            <a:r>
              <a:rPr lang="de-DE" dirty="0"/>
              <a:t>seine Handlung ( Einspruch ) persönlich auf dem Finanzamt </a:t>
            </a:r>
          </a:p>
          <a:p>
            <a:r>
              <a:rPr lang="de-DE" dirty="0"/>
              <a:t>vorzunehmen.</a:t>
            </a:r>
          </a:p>
          <a:p>
            <a:endParaRPr lang="de-DE" dirty="0"/>
          </a:p>
          <a:p>
            <a:r>
              <a:rPr lang="de-DE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6144871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795551" y="1263534"/>
            <a:ext cx="825453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de-DE" dirty="0"/>
            </a:br>
            <a:r>
              <a:rPr lang="de-DE" dirty="0"/>
              <a:t>( A 18 )</a:t>
            </a:r>
          </a:p>
          <a:p>
            <a:endParaRPr lang="de-DE" dirty="0"/>
          </a:p>
          <a:p>
            <a:r>
              <a:rPr lang="de-DE" dirty="0"/>
              <a:t>Studienfreund mit Diskothek</a:t>
            </a:r>
          </a:p>
          <a:p>
            <a:endParaRPr lang="de-DE" dirty="0"/>
          </a:p>
          <a:p>
            <a:r>
              <a:rPr lang="de-DE" dirty="0"/>
              <a:t>Gewinn 				150.000 Euro</a:t>
            </a:r>
          </a:p>
          <a:p>
            <a:r>
              <a:rPr lang="de-DE" dirty="0"/>
              <a:t>angegeben beim Finanzamt		  15.000 Euro</a:t>
            </a:r>
          </a:p>
          <a:p>
            <a:endParaRPr lang="de-DE" dirty="0"/>
          </a:p>
          <a:p>
            <a:r>
              <a:rPr lang="de-DE" dirty="0"/>
              <a:t>( … ) 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5666892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346662" y="332509"/>
            <a:ext cx="945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                                         Steuerstraftaten und Ordnungswidrigkeiten                                                                                    </a:t>
            </a:r>
          </a:p>
        </p:txBody>
      </p:sp>
      <p:graphicFrame>
        <p:nvGraphicFramePr>
          <p:cNvPr id="3" name="Tabelle 2"/>
          <p:cNvGraphicFramePr>
            <a:graphicFrameLocks noGrp="1"/>
          </p:cNvGraphicFramePr>
          <p:nvPr/>
        </p:nvGraphicFramePr>
        <p:xfrm>
          <a:off x="1346662" y="1172092"/>
          <a:ext cx="9451570" cy="49519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5785">
                  <a:extLst>
                    <a:ext uri="{9D8B030D-6E8A-4147-A177-3AD203B41FA5}">
                      <a16:colId xmlns:a16="http://schemas.microsoft.com/office/drawing/2014/main" val="2944132740"/>
                    </a:ext>
                  </a:extLst>
                </a:gridCol>
                <a:gridCol w="4725785">
                  <a:extLst>
                    <a:ext uri="{9D8B030D-6E8A-4147-A177-3AD203B41FA5}">
                      <a16:colId xmlns:a16="http://schemas.microsoft.com/office/drawing/2014/main" val="1140608522"/>
                    </a:ext>
                  </a:extLst>
                </a:gridCol>
              </a:tblGrid>
              <a:tr h="382869">
                <a:tc>
                  <a:txBody>
                    <a:bodyPr/>
                    <a:lstStyle/>
                    <a:p>
                      <a:r>
                        <a:rPr lang="de-DE" dirty="0"/>
                        <a:t>Steuerhinterziehung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leichtfertige Steuerverkürzung </a:t>
                      </a:r>
                    </a:p>
                    <a:p>
                      <a:r>
                        <a:rPr lang="de-DE" dirty="0"/>
                        <a:t>und Steuergefährdung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633081"/>
                  </a:ext>
                </a:extLst>
              </a:tr>
              <a:tr h="482140">
                <a:tc>
                  <a:txBody>
                    <a:bodyPr/>
                    <a:lstStyle/>
                    <a:p>
                      <a:r>
                        <a:rPr lang="de-DE" dirty="0"/>
                        <a:t>vorsätzliche Straftat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grob fahrlässige Ordnungswidrigkeit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2110781"/>
                  </a:ext>
                </a:extLst>
              </a:tr>
              <a:tr h="756458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de-DE" baseline="0" dirty="0"/>
                        <a:t>Verfolgungszwang</a:t>
                      </a:r>
                      <a:br>
                        <a:rPr lang="de-DE" baseline="0" dirty="0"/>
                      </a:br>
                      <a:r>
                        <a:rPr lang="de-DE" baseline="0" dirty="0"/>
                        <a:t>Legalitätsprinzip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de-DE" dirty="0"/>
                        <a:t>Ermessen</a:t>
                      </a:r>
                      <a:r>
                        <a:rPr lang="de-DE" baseline="0" dirty="0"/>
                        <a:t> der Finanzbehörde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de-DE" baseline="0" dirty="0"/>
                        <a:t>Opportunitätsprinzip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9607763"/>
                  </a:ext>
                </a:extLst>
              </a:tr>
              <a:tr h="540327">
                <a:tc>
                  <a:txBody>
                    <a:bodyPr/>
                    <a:lstStyle/>
                    <a:p>
                      <a:r>
                        <a:rPr lang="de-DE" dirty="0"/>
                        <a:t>Anklage vor Gericht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Verfolgung durch Finanzbehörde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8558267"/>
                  </a:ext>
                </a:extLst>
              </a:tr>
              <a:tr h="482139">
                <a:tc>
                  <a:txBody>
                    <a:bodyPr/>
                    <a:lstStyle/>
                    <a:p>
                      <a:r>
                        <a:rPr lang="de-DE" dirty="0"/>
                        <a:t>Freiheits- oder Geldstrafe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Bußgeld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9952710"/>
                  </a:ext>
                </a:extLst>
              </a:tr>
              <a:tr h="540328">
                <a:tc>
                  <a:txBody>
                    <a:bodyPr/>
                    <a:lstStyle/>
                    <a:p>
                      <a:r>
                        <a:rPr lang="de-DE" dirty="0"/>
                        <a:t>Festsetzungsfrist 10 Jahre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Festsetzungsfrist 5 Jahre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552082"/>
                  </a:ext>
                </a:extLst>
              </a:tr>
              <a:tr h="1510497">
                <a:tc>
                  <a:txBody>
                    <a:bodyPr/>
                    <a:lstStyle/>
                    <a:p>
                      <a:r>
                        <a:rPr lang="de-DE" dirty="0"/>
                        <a:t>                                                      Straffreiheit</a:t>
                      </a:r>
                      <a:r>
                        <a:rPr lang="de-DE" baseline="0" dirty="0"/>
                        <a:t> durch </a:t>
                      </a:r>
                    </a:p>
                    <a:p>
                      <a:endParaRPr lang="de-DE" baseline="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baseline="0" dirty="0"/>
                        <a:t>Tat der Steuerbehörde noch nicht bekannt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baseline="0" dirty="0"/>
                        <a:t>umgehende Nachzahlung der hinterzogenen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baseline="0" dirty="0"/>
                        <a:t>Aufdeckung im Ganzen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Selbstanzeige </a:t>
                      </a:r>
                    </a:p>
                    <a:p>
                      <a:endParaRPr lang="de-DE" dirty="0"/>
                    </a:p>
                    <a:p>
                      <a:endParaRPr lang="de-DE" dirty="0"/>
                    </a:p>
                    <a:p>
                      <a:r>
                        <a:rPr lang="de-DE" dirty="0"/>
                        <a:t>Steuern und Hinterziehungszinsen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5227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32300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795551" y="1263534"/>
            <a:ext cx="825453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de-DE" dirty="0"/>
            </a:br>
            <a:r>
              <a:rPr lang="de-DE" dirty="0"/>
              <a:t>( B 2 )</a:t>
            </a:r>
          </a:p>
          <a:p>
            <a:endParaRPr lang="de-DE" dirty="0"/>
          </a:p>
          <a:p>
            <a:r>
              <a:rPr lang="de-DE" dirty="0"/>
              <a:t>Erläutern Sie den Unterschied zwischen</a:t>
            </a:r>
          </a:p>
          <a:p>
            <a:r>
              <a:rPr lang="de-DE" dirty="0"/>
              <a:t>unbeschränkter und beschränkter Steuerpflicht.</a:t>
            </a:r>
          </a:p>
          <a:p>
            <a:endParaRPr lang="de-DE" dirty="0"/>
          </a:p>
          <a:p>
            <a:r>
              <a:rPr lang="de-DE" dirty="0"/>
              <a:t>Welche in- und ausländischen Einkommensteile</a:t>
            </a:r>
          </a:p>
          <a:p>
            <a:r>
              <a:rPr lang="de-DE" dirty="0"/>
              <a:t>werden für die Besteuerung herangezogen ?</a:t>
            </a:r>
          </a:p>
          <a:p>
            <a:endParaRPr lang="de-DE" dirty="0"/>
          </a:p>
          <a:p>
            <a:r>
              <a:rPr lang="de-DE" dirty="0"/>
              <a:t>Was beinhalten und welche Rolle spielen hierbei</a:t>
            </a:r>
          </a:p>
          <a:p>
            <a:r>
              <a:rPr lang="de-DE" dirty="0"/>
              <a:t>Doppelbesteuerungsabkommen ?</a:t>
            </a:r>
          </a:p>
          <a:p>
            <a:endParaRPr lang="de-DE" dirty="0"/>
          </a:p>
          <a:p>
            <a:r>
              <a:rPr lang="de-DE" dirty="0"/>
              <a:t>Bilden Sie ein Beispiel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589621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296787" y="939338"/>
            <a:ext cx="1015815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                                                             Persönliche Steuerpflicht</a:t>
            </a:r>
          </a:p>
          <a:p>
            <a:r>
              <a:rPr lang="de-DE" dirty="0"/>
              <a:t>                                                                     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   unbeschränkt                          beschränkt                       Doppelbesteuerungs-	Personengesellschaften</a:t>
            </a:r>
          </a:p>
          <a:p>
            <a:r>
              <a:rPr lang="de-DE" dirty="0"/>
              <a:t>						Abkommen</a:t>
            </a:r>
          </a:p>
          <a:p>
            <a:r>
              <a:rPr lang="de-DE" dirty="0"/>
              <a:t>    Wohnsitz oder 		weder noch</a:t>
            </a:r>
            <a:br>
              <a:rPr lang="de-DE" dirty="0"/>
            </a:br>
            <a:r>
              <a:rPr lang="de-DE" dirty="0"/>
              <a:t>     </a:t>
            </a:r>
            <a:r>
              <a:rPr lang="de-DE" dirty="0" err="1"/>
              <a:t>gew</a:t>
            </a:r>
            <a:r>
              <a:rPr lang="de-DE" dirty="0"/>
              <a:t>. Aufenthalt		aber Inlands-	          Vereinbarungen                      steuerpflichtig</a:t>
            </a:r>
            <a:br>
              <a:rPr lang="de-DE" dirty="0"/>
            </a:br>
            <a:r>
              <a:rPr lang="de-DE" dirty="0"/>
              <a:t>     im Inland 		</a:t>
            </a:r>
            <a:r>
              <a:rPr lang="de-DE" dirty="0" err="1"/>
              <a:t>einkünfte</a:t>
            </a:r>
            <a:r>
              <a:rPr lang="de-DE" dirty="0"/>
              <a:t>                             zwischen den Ländern          sind die Gesellschafter</a:t>
            </a:r>
            <a:br>
              <a:rPr lang="de-DE" dirty="0"/>
            </a:br>
            <a:r>
              <a:rPr lang="de-DE" dirty="0"/>
              <a:t>                                				           über Besteuerungsrecht</a:t>
            </a:r>
          </a:p>
          <a:p>
            <a:r>
              <a:rPr lang="de-DE" dirty="0"/>
              <a:t>   Welteinkommens-	und nur diese</a:t>
            </a:r>
            <a:br>
              <a:rPr lang="de-DE" dirty="0"/>
            </a:br>
            <a:r>
              <a:rPr lang="de-DE" dirty="0"/>
              <a:t>          </a:t>
            </a:r>
            <a:r>
              <a:rPr lang="de-DE" dirty="0" err="1"/>
              <a:t>prinzip</a:t>
            </a:r>
            <a:r>
              <a:rPr lang="de-DE" dirty="0"/>
              <a:t>                     </a:t>
            </a:r>
          </a:p>
          <a:p>
            <a:endParaRPr lang="de-DE" dirty="0"/>
          </a:p>
        </p:txBody>
      </p:sp>
      <p:cxnSp>
        <p:nvCxnSpPr>
          <p:cNvPr id="4" name="Gerader Verbinder 3"/>
          <p:cNvCxnSpPr/>
          <p:nvPr/>
        </p:nvCxnSpPr>
        <p:spPr>
          <a:xfrm flipV="1">
            <a:off x="1812175" y="2140526"/>
            <a:ext cx="7722523" cy="166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5"/>
          <p:cNvCxnSpPr/>
          <p:nvPr/>
        </p:nvCxnSpPr>
        <p:spPr>
          <a:xfrm>
            <a:off x="5835536" y="1753983"/>
            <a:ext cx="8312" cy="3740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/>
          <p:cNvCxnSpPr/>
          <p:nvPr/>
        </p:nvCxnSpPr>
        <p:spPr>
          <a:xfrm>
            <a:off x="1812175" y="2152996"/>
            <a:ext cx="0" cy="698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/>
          <p:cNvCxnSpPr/>
          <p:nvPr/>
        </p:nvCxnSpPr>
        <p:spPr>
          <a:xfrm>
            <a:off x="4497186" y="2161307"/>
            <a:ext cx="8313" cy="698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/>
          <p:cNvCxnSpPr/>
          <p:nvPr/>
        </p:nvCxnSpPr>
        <p:spPr>
          <a:xfrm>
            <a:off x="7273637" y="2136371"/>
            <a:ext cx="24938" cy="7065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/>
          <p:cNvCxnSpPr/>
          <p:nvPr/>
        </p:nvCxnSpPr>
        <p:spPr>
          <a:xfrm>
            <a:off x="9534698" y="2128056"/>
            <a:ext cx="0" cy="714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06768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795551" y="1263534"/>
            <a:ext cx="825453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de-DE" dirty="0"/>
            </a:br>
            <a:r>
              <a:rPr lang="de-DE" dirty="0"/>
              <a:t>( B 3 )</a:t>
            </a:r>
          </a:p>
          <a:p>
            <a:endParaRPr lang="de-DE" dirty="0"/>
          </a:p>
          <a:p>
            <a:r>
              <a:rPr lang="de-DE" dirty="0"/>
              <a:t>Erklären Sie kurz die Begriffe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---   Einnahmen</a:t>
            </a:r>
          </a:p>
          <a:p>
            <a:r>
              <a:rPr lang="de-DE" dirty="0"/>
              <a:t>---   Werbungskosten</a:t>
            </a:r>
          </a:p>
          <a:p>
            <a:r>
              <a:rPr lang="de-DE" dirty="0"/>
              <a:t>---   Einkünfte</a:t>
            </a:r>
          </a:p>
          <a:p>
            <a:r>
              <a:rPr lang="de-DE" dirty="0"/>
              <a:t>---   Pauschbetrag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9418285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461193" y="1321570"/>
            <a:ext cx="8182368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                                                                                                                                                     </a:t>
            </a:r>
          </a:p>
          <a:p>
            <a:r>
              <a:rPr lang="de-DE" dirty="0"/>
              <a:t>Einnahmen			Rohertrag aus einer Einkunftsart</a:t>
            </a:r>
          </a:p>
          <a:p>
            <a:r>
              <a:rPr lang="de-DE" dirty="0"/>
              <a:t>Einkünfte				Reinertrag nach Abzug der Aufwendungen</a:t>
            </a:r>
          </a:p>
          <a:p>
            <a:endParaRPr lang="de-DE" dirty="0"/>
          </a:p>
          <a:p>
            <a:r>
              <a:rPr lang="de-DE" dirty="0"/>
              <a:t>Gewinnermittlung			Bilanz mit GuV </a:t>
            </a:r>
          </a:p>
          <a:p>
            <a:r>
              <a:rPr lang="de-DE" dirty="0"/>
              <a:t>				vereinfachte Einnahme-Überschuss-Rechnung</a:t>
            </a:r>
          </a:p>
          <a:p>
            <a:r>
              <a:rPr lang="de-DE" dirty="0"/>
              <a:t>				Betriebseinnahmen minus Betriebsausgaben </a:t>
            </a:r>
          </a:p>
          <a:p>
            <a:endParaRPr lang="de-DE" dirty="0"/>
          </a:p>
          <a:p>
            <a:r>
              <a:rPr lang="de-DE" dirty="0"/>
              <a:t>Überschussermittlung		Einnahmen minus Werbungskosten</a:t>
            </a:r>
          </a:p>
          <a:p>
            <a:endParaRPr lang="de-DE" dirty="0"/>
          </a:p>
          <a:p>
            <a:r>
              <a:rPr lang="de-DE" dirty="0"/>
              <a:t>Werbungskosten			Aufwendungen zum Erwerb, Sicherung und</a:t>
            </a:r>
          </a:p>
          <a:p>
            <a:r>
              <a:rPr lang="de-DE" dirty="0"/>
              <a:t>				Erhaltung der Einnahmen </a:t>
            </a:r>
          </a:p>
          <a:p>
            <a:endParaRPr lang="de-DE" dirty="0"/>
          </a:p>
          <a:p>
            <a:r>
              <a:rPr lang="de-DE" dirty="0"/>
              <a:t>Pauschbetrag			wird immer von den Einnahmen abgezogen</a:t>
            </a:r>
          </a:p>
          <a:p>
            <a:r>
              <a:rPr lang="de-DE" dirty="0"/>
              <a:t>				höchstens jedoch bis Einkünfte null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150898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795551" y="1263534"/>
            <a:ext cx="825453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de-DE" dirty="0"/>
            </a:br>
            <a:endParaRPr lang="de-DE" dirty="0"/>
          </a:p>
          <a:p>
            <a:r>
              <a:rPr lang="de-DE" dirty="0"/>
              <a:t>( B 4 )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Erstellen und erläutern Sie ein vereinfachtes Schema</a:t>
            </a:r>
          </a:p>
          <a:p>
            <a:r>
              <a:rPr lang="de-DE" dirty="0"/>
              <a:t>zur Ermittlung des zu versteuernden Einkommens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792904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461193" y="1321570"/>
            <a:ext cx="84144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                                           Schema Einkommensteuer                                                              </a:t>
            </a:r>
          </a:p>
          <a:p>
            <a:endParaRPr lang="de-DE" dirty="0"/>
          </a:p>
          <a:p>
            <a:r>
              <a:rPr lang="de-DE" dirty="0"/>
              <a:t>	</a:t>
            </a:r>
          </a:p>
        </p:txBody>
      </p:sp>
      <p:cxnSp>
        <p:nvCxnSpPr>
          <p:cNvPr id="4" name="Gerader Verbinder 3"/>
          <p:cNvCxnSpPr/>
          <p:nvPr/>
        </p:nvCxnSpPr>
        <p:spPr>
          <a:xfrm flipV="1">
            <a:off x="2078182" y="1995055"/>
            <a:ext cx="7547956" cy="8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182" y="2422813"/>
            <a:ext cx="7323513" cy="3687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6989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295" y="1346662"/>
            <a:ext cx="8254538" cy="391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4127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795551" y="1263534"/>
            <a:ext cx="825453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de-DE" dirty="0"/>
            </a:br>
            <a:endParaRPr lang="de-DE" dirty="0"/>
          </a:p>
          <a:p>
            <a:r>
              <a:rPr lang="de-DE" dirty="0"/>
              <a:t>( B 8 )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Erläutern Sie den Aufbau des Einkommensteuer-Tarifs.</a:t>
            </a:r>
          </a:p>
          <a:p>
            <a:endParaRPr lang="de-DE" dirty="0"/>
          </a:p>
          <a:p>
            <a:r>
              <a:rPr lang="de-DE" dirty="0"/>
              <a:t>Was versteht man unter Grenz- und </a:t>
            </a:r>
          </a:p>
          <a:p>
            <a:r>
              <a:rPr lang="de-DE" dirty="0"/>
              <a:t>Durchschnitts-Steuersatz ?</a:t>
            </a:r>
          </a:p>
          <a:p>
            <a:endParaRPr lang="de-DE" dirty="0"/>
          </a:p>
          <a:p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971604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461193" y="1321570"/>
            <a:ext cx="8050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                                          Steuertarif und Formel                                                               </a:t>
            </a:r>
          </a:p>
          <a:p>
            <a:endParaRPr lang="de-DE" dirty="0"/>
          </a:p>
          <a:p>
            <a:r>
              <a:rPr lang="de-DE" dirty="0"/>
              <a:t>	</a:t>
            </a:r>
          </a:p>
        </p:txBody>
      </p:sp>
      <p:cxnSp>
        <p:nvCxnSpPr>
          <p:cNvPr id="4" name="Gerader Verbinder 3"/>
          <p:cNvCxnSpPr/>
          <p:nvPr/>
        </p:nvCxnSpPr>
        <p:spPr>
          <a:xfrm flipV="1">
            <a:off x="2078182" y="1995055"/>
            <a:ext cx="7547956" cy="8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DEBEF426-8738-4C93-989D-0DF2943B67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413402"/>
              </p:ext>
            </p:extLst>
          </p:nvPr>
        </p:nvGraphicFramePr>
        <p:xfrm>
          <a:off x="2680655" y="2034062"/>
          <a:ext cx="5280466" cy="43082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80466">
                  <a:extLst>
                    <a:ext uri="{9D8B030D-6E8A-4147-A177-3AD203B41FA5}">
                      <a16:colId xmlns:a16="http://schemas.microsoft.com/office/drawing/2014/main" val="853933032"/>
                    </a:ext>
                  </a:extLst>
                </a:gridCol>
              </a:tblGrid>
              <a:tr h="1440429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de-DE" sz="1000" dirty="0">
                          <a:effectLst/>
                        </a:rPr>
                        <a:t> </a:t>
                      </a:r>
                      <a:endParaRPr lang="de-DE" sz="1200" dirty="0">
                        <a:effectLst/>
                      </a:endParaRPr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de-DE" sz="1000" dirty="0">
                          <a:effectLst/>
                        </a:rPr>
                        <a:t>Die Einkommensteuer-Tabelle gliedert sich in vier Bereiche</a:t>
                      </a:r>
                      <a:endParaRPr lang="de-DE" sz="1200" dirty="0">
                        <a:effectLst/>
                      </a:endParaRPr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de-DE" sz="1000" dirty="0">
                          <a:effectLst/>
                        </a:rPr>
                        <a:t> </a:t>
                      </a:r>
                      <a:endParaRPr lang="de-DE" sz="1200" dirty="0">
                        <a:effectLst/>
                      </a:endParaRPr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de-DE" sz="1000" dirty="0">
                          <a:effectLst/>
                        </a:rPr>
                        <a:t>I	Grundfreibetrag oder Existenzminimum (</a:t>
                      </a:r>
                      <a:r>
                        <a:rPr lang="de-DE" sz="1000" dirty="0" err="1">
                          <a:effectLst/>
                        </a:rPr>
                        <a:t>Nullzone</a:t>
                      </a:r>
                      <a:r>
                        <a:rPr lang="de-DE" sz="1000" dirty="0">
                          <a:effectLst/>
                        </a:rPr>
                        <a:t>) </a:t>
                      </a:r>
                      <a:endParaRPr lang="de-DE" sz="1200" dirty="0">
                        <a:effectLst/>
                      </a:endParaRPr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de-DE" sz="1000" dirty="0">
                          <a:effectLst/>
                        </a:rPr>
                        <a:t>	Es bleiben 12.096 € vom zu versteuernden Einkommen </a:t>
                      </a:r>
                      <a:br>
                        <a:rPr lang="de-DE" sz="1000" dirty="0">
                          <a:effectLst/>
                        </a:rPr>
                      </a:br>
                      <a:r>
                        <a:rPr lang="de-DE" sz="1000" dirty="0">
                          <a:effectLst/>
                        </a:rPr>
                        <a:t>	( immer ) unversteuert.</a:t>
                      </a:r>
                      <a:endParaRPr lang="de-D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85" marR="45085" marT="0" marB="0"/>
                </a:tc>
                <a:extLst>
                  <a:ext uri="{0D108BD9-81ED-4DB2-BD59-A6C34878D82A}">
                    <a16:rowId xmlns:a16="http://schemas.microsoft.com/office/drawing/2014/main" val="2096578337"/>
                  </a:ext>
                </a:extLst>
              </a:tr>
              <a:tr h="1024220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de-DE" sz="1000" dirty="0">
                          <a:effectLst/>
                        </a:rPr>
                        <a:t> </a:t>
                      </a:r>
                      <a:endParaRPr lang="de-DE" sz="1200" dirty="0">
                        <a:effectLst/>
                      </a:endParaRPr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de-DE" sz="1000" dirty="0">
                          <a:effectLst/>
                        </a:rPr>
                        <a:t>II	Progressionszone</a:t>
                      </a:r>
                      <a:endParaRPr lang="de-DE" sz="1200" dirty="0">
                        <a:effectLst/>
                      </a:endParaRPr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de-DE" sz="1000" dirty="0">
                          <a:effectLst/>
                        </a:rPr>
                        <a:t>	Der Steuersatz steigt bei einem zu versteuernden</a:t>
                      </a:r>
                      <a:br>
                        <a:rPr lang="de-DE" sz="1000" dirty="0">
                          <a:effectLst/>
                        </a:rPr>
                      </a:br>
                      <a:r>
                        <a:rPr lang="de-DE" sz="1000" dirty="0">
                          <a:effectLst/>
                        </a:rPr>
                        <a:t> 	Einkommen zwischen 12.097 € und 68.481 €</a:t>
                      </a:r>
                      <a:br>
                        <a:rPr lang="de-DE" sz="1000" dirty="0">
                          <a:effectLst/>
                        </a:rPr>
                      </a:br>
                      <a:r>
                        <a:rPr lang="de-DE" sz="1000" dirty="0">
                          <a:effectLst/>
                        </a:rPr>
                        <a:t> 	progressiv von 14 % auf 42 % an.</a:t>
                      </a:r>
                      <a:endParaRPr lang="de-D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85" marR="45085" marT="0" marB="0"/>
                </a:tc>
                <a:extLst>
                  <a:ext uri="{0D108BD9-81ED-4DB2-BD59-A6C34878D82A}">
                    <a16:rowId xmlns:a16="http://schemas.microsoft.com/office/drawing/2014/main" val="1585108984"/>
                  </a:ext>
                </a:extLst>
              </a:tr>
              <a:tr h="1024220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de-DE" sz="1000" dirty="0">
                          <a:effectLst/>
                        </a:rPr>
                        <a:t> </a:t>
                      </a:r>
                      <a:endParaRPr lang="de-DE" sz="1200" dirty="0">
                        <a:effectLst/>
                      </a:endParaRPr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de-DE" sz="1000" dirty="0">
                          <a:effectLst/>
                        </a:rPr>
                        <a:t>III	Proportionalzone 1</a:t>
                      </a:r>
                      <a:endParaRPr lang="de-DE" sz="1200" dirty="0">
                        <a:effectLst/>
                      </a:endParaRPr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de-DE" sz="1000" dirty="0">
                          <a:effectLst/>
                        </a:rPr>
                        <a:t>	Beträge ab 68.482 € werden gleichbleibend mit</a:t>
                      </a:r>
                      <a:br>
                        <a:rPr lang="de-DE" sz="1000" dirty="0">
                          <a:effectLst/>
                        </a:rPr>
                      </a:br>
                      <a:r>
                        <a:rPr lang="de-DE" sz="1000" dirty="0">
                          <a:effectLst/>
                        </a:rPr>
                        <a:t> 	42 % besteuert.</a:t>
                      </a:r>
                      <a:endParaRPr lang="de-DE" sz="1200" dirty="0">
                        <a:effectLst/>
                      </a:endParaRPr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de-DE" sz="1000" dirty="0">
                          <a:effectLst/>
                        </a:rPr>
                        <a:t> </a:t>
                      </a:r>
                      <a:endParaRPr lang="de-D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85" marR="45085" marT="0" marB="0"/>
                </a:tc>
                <a:extLst>
                  <a:ext uri="{0D108BD9-81ED-4DB2-BD59-A6C34878D82A}">
                    <a16:rowId xmlns:a16="http://schemas.microsoft.com/office/drawing/2014/main" val="172572927"/>
                  </a:ext>
                </a:extLst>
              </a:tr>
              <a:tr h="819376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de-DE" sz="1000" dirty="0">
                          <a:effectLst/>
                        </a:rPr>
                        <a:t>IV	Proportionalzone 2</a:t>
                      </a:r>
                      <a:endParaRPr lang="de-DE" sz="1200" dirty="0">
                        <a:effectLst/>
                      </a:endParaRPr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de-DE" sz="1000" dirty="0">
                          <a:effectLst/>
                        </a:rPr>
                        <a:t>	Ab 277.826 € gilt ein Spitzensteuersatz von 45 %, </a:t>
                      </a:r>
                      <a:br>
                        <a:rPr lang="de-DE" sz="1000" dirty="0">
                          <a:effectLst/>
                        </a:rPr>
                      </a:br>
                      <a:r>
                        <a:rPr lang="de-DE" sz="1000" dirty="0">
                          <a:effectLst/>
                        </a:rPr>
                        <a:t>	man nennt dies die „Reichensteuer“.</a:t>
                      </a:r>
                      <a:br>
                        <a:rPr lang="de-DE" sz="1000" dirty="0">
                          <a:effectLst/>
                        </a:rPr>
                      </a:br>
                      <a:endParaRPr lang="de-D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85" marR="45085" marT="0" marB="0"/>
                </a:tc>
                <a:extLst>
                  <a:ext uri="{0D108BD9-81ED-4DB2-BD59-A6C34878D82A}">
                    <a16:rowId xmlns:a16="http://schemas.microsoft.com/office/drawing/2014/main" val="322840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54199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1804" y="1296785"/>
            <a:ext cx="7498080" cy="417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1615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0EFFDD05-80B7-408A-852A-A9999BE9D4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1109411"/>
              </p:ext>
            </p:extLst>
          </p:nvPr>
        </p:nvGraphicFramePr>
        <p:xfrm>
          <a:off x="2072081" y="604007"/>
          <a:ext cx="6417577" cy="51285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83575">
                  <a:extLst>
                    <a:ext uri="{9D8B030D-6E8A-4147-A177-3AD203B41FA5}">
                      <a16:colId xmlns:a16="http://schemas.microsoft.com/office/drawing/2014/main" val="174914227"/>
                    </a:ext>
                  </a:extLst>
                </a:gridCol>
                <a:gridCol w="1934002">
                  <a:extLst>
                    <a:ext uri="{9D8B030D-6E8A-4147-A177-3AD203B41FA5}">
                      <a16:colId xmlns:a16="http://schemas.microsoft.com/office/drawing/2014/main" val="4133095565"/>
                    </a:ext>
                  </a:extLst>
                </a:gridCol>
              </a:tblGrid>
              <a:tr h="4965693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de-DE" sz="1000" dirty="0">
                          <a:effectLst/>
                        </a:rPr>
                        <a:t> </a:t>
                      </a:r>
                      <a:endParaRPr lang="de-DE" sz="1200" dirty="0">
                        <a:effectLst/>
                      </a:endParaRPr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de-DE" sz="2000" dirty="0">
                          <a:effectLst/>
                        </a:rPr>
                        <a:t>Grenzsteuersatz</a:t>
                      </a:r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endParaRPr lang="de-DE" sz="2000" dirty="0">
                        <a:effectLst/>
                      </a:endParaRPr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endParaRPr lang="de-DE" sz="2000" dirty="0">
                        <a:effectLst/>
                      </a:endParaRPr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de-DE" sz="20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de-DE" sz="2000" dirty="0">
                          <a:effectLst/>
                        </a:rPr>
                        <a:t>zeigt, wie hoch die prozentuale</a:t>
                      </a:r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endParaRPr lang="de-DE" sz="2000" dirty="0">
                        <a:effectLst/>
                      </a:endParaRPr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de-DE" sz="2000" dirty="0">
                          <a:effectLst/>
                        </a:rPr>
                        <a:t>Einkommensteuerbelastung an der Spitze </a:t>
                      </a:r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endParaRPr lang="de-DE" sz="2000" dirty="0">
                        <a:effectLst/>
                      </a:endParaRPr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de-DE" sz="2000" dirty="0">
                          <a:effectLst/>
                        </a:rPr>
                        <a:t>für einen zusätzlich verdienten (oder </a:t>
                      </a:r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endParaRPr lang="de-DE" sz="2000" dirty="0">
                        <a:effectLst/>
                      </a:endParaRPr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de-DE" sz="2000" dirty="0">
                          <a:effectLst/>
                        </a:rPr>
                        <a:t>ersparten) Euro ist.</a:t>
                      </a:r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br>
                        <a:rPr lang="de-DE" sz="2000" dirty="0">
                          <a:effectLst/>
                        </a:rPr>
                      </a:br>
                      <a:br>
                        <a:rPr lang="de-DE" sz="2000" dirty="0">
                          <a:effectLst/>
                        </a:rPr>
                      </a:br>
                      <a:r>
                        <a:rPr lang="de-DE" sz="2000" dirty="0">
                          <a:effectLst/>
                        </a:rPr>
                        <a:t>Er beträgt maximal 42 Prozent, über </a:t>
                      </a:r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endParaRPr lang="de-DE" sz="2000" dirty="0">
                        <a:effectLst/>
                      </a:endParaRPr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de-DE" sz="2000" dirty="0">
                          <a:effectLst/>
                        </a:rPr>
                        <a:t>277.826 € zu versteuerndes Einkommen </a:t>
                      </a:r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endParaRPr lang="de-DE" sz="2000" dirty="0">
                        <a:effectLst/>
                      </a:endParaRPr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de-DE" sz="2000" dirty="0">
                          <a:effectLst/>
                        </a:rPr>
                        <a:t>sogar 45 %.</a:t>
                      </a:r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br>
                        <a:rPr lang="de-DE" sz="2000" dirty="0">
                          <a:effectLst/>
                        </a:rPr>
                      </a:br>
                      <a:br>
                        <a:rPr lang="de-DE" sz="2000" dirty="0">
                          <a:effectLst/>
                        </a:rPr>
                      </a:br>
                      <a:r>
                        <a:rPr lang="de-DE" sz="2000" dirty="0">
                          <a:effectLst/>
                        </a:rPr>
                        <a:t>Mathematisch handelt es sich um die </a:t>
                      </a:r>
                      <a:br>
                        <a:rPr lang="de-DE" sz="2000" dirty="0">
                          <a:effectLst/>
                        </a:rPr>
                      </a:br>
                      <a:endParaRPr lang="de-DE" sz="2000" dirty="0">
                        <a:effectLst/>
                      </a:endParaRPr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de-DE" sz="2000" dirty="0">
                          <a:effectLst/>
                        </a:rPr>
                        <a:t>erste Ableitung der Steuer-Funktion, also </a:t>
                      </a:r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endParaRPr lang="de-DE" sz="2000" dirty="0">
                        <a:effectLst/>
                      </a:endParaRPr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de-DE" sz="2000" dirty="0">
                          <a:effectLst/>
                        </a:rPr>
                        <a:t>um die Steigung einer Tangente. </a:t>
                      </a:r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de-DE" sz="1000" dirty="0">
                          <a:effectLst/>
                        </a:rPr>
                        <a:t> </a:t>
                      </a:r>
                      <a:endParaRPr lang="de-D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85" marR="45085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de-DE" sz="900" dirty="0">
                          <a:effectLst/>
                        </a:rPr>
                        <a:t> </a:t>
                      </a:r>
                      <a:endParaRPr lang="de-D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85" marR="45085" marT="0" marB="0"/>
                </a:tc>
                <a:extLst>
                  <a:ext uri="{0D108BD9-81ED-4DB2-BD59-A6C34878D82A}">
                    <a16:rowId xmlns:a16="http://schemas.microsoft.com/office/drawing/2014/main" val="1834151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71279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2298" y="781396"/>
            <a:ext cx="8636923" cy="5220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8809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795551" y="1263534"/>
            <a:ext cx="825453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de-DE" dirty="0"/>
            </a:br>
            <a:endParaRPr lang="de-DE" dirty="0"/>
          </a:p>
          <a:p>
            <a:r>
              <a:rPr lang="de-DE" dirty="0"/>
              <a:t>( B 9 )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Was sind Sonderausgaben und was sind</a:t>
            </a:r>
          </a:p>
          <a:p>
            <a:r>
              <a:rPr lang="de-DE" dirty="0"/>
              <a:t>außergewöhnliche Belastungen ?</a:t>
            </a:r>
          </a:p>
          <a:p>
            <a:endParaRPr lang="de-DE" dirty="0"/>
          </a:p>
          <a:p>
            <a:r>
              <a:rPr lang="de-DE" dirty="0"/>
              <a:t>Welche Gruppen werden bei beiden unterschieden ?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329726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527069" y="922712"/>
            <a:ext cx="862029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                              </a:t>
            </a:r>
          </a:p>
          <a:p>
            <a:r>
              <a:rPr lang="de-DE" dirty="0"/>
              <a:t>                                                      Ausgaben   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           bei den Gewinn-          bei den Überschuss-                 private</a:t>
            </a:r>
          </a:p>
          <a:p>
            <a:r>
              <a:rPr lang="de-DE" dirty="0"/>
              <a:t>           Einkunftsarten              </a:t>
            </a:r>
            <a:r>
              <a:rPr lang="de-DE" dirty="0" err="1"/>
              <a:t>Einkunftsarten</a:t>
            </a:r>
            <a:r>
              <a:rPr lang="de-DE" dirty="0"/>
              <a:t>                          Lebensführung </a:t>
            </a:r>
          </a:p>
          <a:p>
            <a:endParaRPr lang="de-DE" dirty="0"/>
          </a:p>
          <a:p>
            <a:r>
              <a:rPr lang="de-DE" dirty="0"/>
              <a:t>           Betriebsausgaben         Werbungskosten                     steuerlich keine </a:t>
            </a:r>
          </a:p>
          <a:p>
            <a:r>
              <a:rPr lang="de-DE" dirty="0"/>
              <a:t>                                                                                                      Berücksichtigung        Ausnahme              </a:t>
            </a:r>
          </a:p>
          <a:p>
            <a:endParaRPr lang="de-DE" b="1" dirty="0"/>
          </a:p>
          <a:p>
            <a:r>
              <a:rPr lang="de-DE" dirty="0"/>
              <a:t>            Kopierpapier                   Farbe für                                 Lebensmittel</a:t>
            </a:r>
          </a:p>
          <a:p>
            <a:r>
              <a:rPr lang="de-DE" dirty="0"/>
              <a:t>            für Kanzlei                        Mietshaus                              für Haushalt </a:t>
            </a:r>
          </a:p>
          <a:p>
            <a:r>
              <a:rPr lang="de-DE" dirty="0"/>
              <a:t>          </a:t>
            </a:r>
          </a:p>
          <a:p>
            <a:endParaRPr lang="de-DE" dirty="0"/>
          </a:p>
          <a:p>
            <a:r>
              <a:rPr lang="de-DE" dirty="0"/>
              <a:t>							Sonderausgaben und </a:t>
            </a:r>
          </a:p>
          <a:p>
            <a:r>
              <a:rPr lang="de-DE" dirty="0"/>
              <a:t>							außergewöhnliche</a:t>
            </a:r>
          </a:p>
          <a:p>
            <a:r>
              <a:rPr lang="de-DE" dirty="0"/>
              <a:t>							Belastungen  </a:t>
            </a:r>
          </a:p>
        </p:txBody>
      </p:sp>
      <p:cxnSp>
        <p:nvCxnSpPr>
          <p:cNvPr id="6" name="Gerader Verbinder 5"/>
          <p:cNvCxnSpPr/>
          <p:nvPr/>
        </p:nvCxnSpPr>
        <p:spPr>
          <a:xfrm flipV="1">
            <a:off x="3541222" y="1862050"/>
            <a:ext cx="4838008" cy="83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/>
          <p:cNvCxnSpPr/>
          <p:nvPr/>
        </p:nvCxnSpPr>
        <p:spPr>
          <a:xfrm>
            <a:off x="3541222" y="1870363"/>
            <a:ext cx="0" cy="2826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/>
          <p:cNvCxnSpPr/>
          <p:nvPr/>
        </p:nvCxnSpPr>
        <p:spPr>
          <a:xfrm>
            <a:off x="5947757" y="1891145"/>
            <a:ext cx="8313" cy="2410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/>
          <p:cNvCxnSpPr/>
          <p:nvPr/>
        </p:nvCxnSpPr>
        <p:spPr>
          <a:xfrm>
            <a:off x="8362606" y="1862048"/>
            <a:ext cx="0" cy="2410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6"/>
          <p:cNvCxnSpPr/>
          <p:nvPr/>
        </p:nvCxnSpPr>
        <p:spPr>
          <a:xfrm>
            <a:off x="10449099" y="4056611"/>
            <a:ext cx="0" cy="1138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4933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511829" y="1131455"/>
            <a:ext cx="6259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           Sonderausgaben                                                                      </a:t>
            </a:r>
          </a:p>
          <a:p>
            <a:r>
              <a:rPr lang="de-DE" dirty="0"/>
              <a:t>	</a:t>
            </a:r>
          </a:p>
        </p:txBody>
      </p:sp>
      <p:cxnSp>
        <p:nvCxnSpPr>
          <p:cNvPr id="4" name="Gerader Verbinder 3"/>
          <p:cNvCxnSpPr/>
          <p:nvPr/>
        </p:nvCxnSpPr>
        <p:spPr>
          <a:xfrm flipV="1">
            <a:off x="2078182" y="1770611"/>
            <a:ext cx="7547956" cy="8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elle 4"/>
          <p:cNvGraphicFramePr>
            <a:graphicFrameLocks noGrp="1"/>
          </p:cNvGraphicFramePr>
          <p:nvPr/>
        </p:nvGraphicFramePr>
        <p:xfrm>
          <a:off x="1788160" y="2331135"/>
          <a:ext cx="8128000" cy="283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16090144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676268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Vorsorgeaufwendungen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übrige Sonderausgaben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64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Beiträge zur</a:t>
                      </a:r>
                      <a:r>
                        <a:rPr lang="de-DE" baseline="0" dirty="0"/>
                        <a:t> Kranken- und</a:t>
                      </a:r>
                    </a:p>
                    <a:p>
                      <a:r>
                        <a:rPr lang="de-DE" baseline="0" dirty="0"/>
                        <a:t>Rentenversicherung</a:t>
                      </a:r>
                    </a:p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abschließende</a:t>
                      </a:r>
                      <a:r>
                        <a:rPr lang="de-DE" baseline="0" dirty="0"/>
                        <a:t> Aufzählung</a:t>
                      </a:r>
                    </a:p>
                    <a:p>
                      <a:r>
                        <a:rPr lang="de-DE" baseline="0" dirty="0"/>
                        <a:t>im Gesetz ( § 10 EStG ) 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476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Höchstbeträge</a:t>
                      </a:r>
                      <a:r>
                        <a:rPr lang="de-DE" baseline="0" dirty="0"/>
                        <a:t> nach </a:t>
                      </a:r>
                    </a:p>
                    <a:p>
                      <a:r>
                        <a:rPr lang="de-DE" baseline="0" dirty="0"/>
                        <a:t>verschiedenen Berechnungen </a:t>
                      </a:r>
                    </a:p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545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33788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54848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511829" y="1131455"/>
            <a:ext cx="6653040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           Übrige Sonderausgaben                                                                     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	Unterhaltsleistungen bei Geschiedenen</a:t>
            </a:r>
          </a:p>
          <a:p>
            <a:endParaRPr lang="de-DE" dirty="0"/>
          </a:p>
          <a:p>
            <a:r>
              <a:rPr lang="de-DE" dirty="0"/>
              <a:t>	Renten bei Vermögensübertragung</a:t>
            </a:r>
          </a:p>
          <a:p>
            <a:endParaRPr lang="de-DE" dirty="0"/>
          </a:p>
          <a:p>
            <a:r>
              <a:rPr lang="de-DE" dirty="0"/>
              <a:t>	Kirchensteuer</a:t>
            </a:r>
          </a:p>
          <a:p>
            <a:endParaRPr lang="de-DE" dirty="0"/>
          </a:p>
          <a:p>
            <a:r>
              <a:rPr lang="de-DE" dirty="0"/>
              <a:t>	Kinderbetreuungskosten</a:t>
            </a:r>
          </a:p>
          <a:p>
            <a:endParaRPr lang="de-DE" dirty="0"/>
          </a:p>
          <a:p>
            <a:r>
              <a:rPr lang="de-DE" dirty="0"/>
              <a:t>	Berufsausbildungskosten</a:t>
            </a:r>
          </a:p>
          <a:p>
            <a:endParaRPr lang="de-DE" dirty="0"/>
          </a:p>
          <a:p>
            <a:r>
              <a:rPr lang="de-DE" dirty="0"/>
              <a:t>	Schulgeld</a:t>
            </a:r>
          </a:p>
          <a:p>
            <a:endParaRPr lang="de-DE" dirty="0"/>
          </a:p>
          <a:p>
            <a:r>
              <a:rPr lang="de-DE" dirty="0"/>
              <a:t>	Spenden</a:t>
            </a:r>
          </a:p>
          <a:p>
            <a:endParaRPr lang="de-DE" dirty="0"/>
          </a:p>
        </p:txBody>
      </p:sp>
      <p:cxnSp>
        <p:nvCxnSpPr>
          <p:cNvPr id="4" name="Gerader Verbinder 3"/>
          <p:cNvCxnSpPr/>
          <p:nvPr/>
        </p:nvCxnSpPr>
        <p:spPr>
          <a:xfrm flipV="1">
            <a:off x="2078182" y="1770611"/>
            <a:ext cx="7547956" cy="8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90229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511829" y="1131455"/>
            <a:ext cx="75969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                                     Außergewöhnliche Belastungen                                             </a:t>
            </a:r>
          </a:p>
          <a:p>
            <a:r>
              <a:rPr lang="de-DE" dirty="0"/>
              <a:t>	</a:t>
            </a:r>
          </a:p>
        </p:txBody>
      </p:sp>
      <p:cxnSp>
        <p:nvCxnSpPr>
          <p:cNvPr id="4" name="Gerader Verbinder 3"/>
          <p:cNvCxnSpPr/>
          <p:nvPr/>
        </p:nvCxnSpPr>
        <p:spPr>
          <a:xfrm flipV="1">
            <a:off x="2078182" y="1770611"/>
            <a:ext cx="7547956" cy="8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elle 4"/>
          <p:cNvGraphicFramePr>
            <a:graphicFrameLocks noGrp="1"/>
          </p:cNvGraphicFramePr>
          <p:nvPr/>
        </p:nvGraphicFramePr>
        <p:xfrm>
          <a:off x="1172094" y="1907186"/>
          <a:ext cx="9252066" cy="403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6033">
                  <a:extLst>
                    <a:ext uri="{9D8B030D-6E8A-4147-A177-3AD203B41FA5}">
                      <a16:colId xmlns:a16="http://schemas.microsoft.com/office/drawing/2014/main" val="1160901442"/>
                    </a:ext>
                  </a:extLst>
                </a:gridCol>
                <a:gridCol w="4626033">
                  <a:extLst>
                    <a:ext uri="{9D8B030D-6E8A-4147-A177-3AD203B41FA5}">
                      <a16:colId xmlns:a16="http://schemas.microsoft.com/office/drawing/2014/main" val="39676268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Fälle nach der </a:t>
                      </a:r>
                      <a:br>
                        <a:rPr lang="de-DE" dirty="0"/>
                      </a:br>
                      <a:r>
                        <a:rPr lang="de-DE" dirty="0"/>
                        <a:t>allgemeinen Definition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typisierte Fälle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64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  <a:p>
                      <a:r>
                        <a:rPr lang="de-DE" dirty="0"/>
                        <a:t>zwangsweise höhere Aufwendungen</a:t>
                      </a:r>
                      <a:br>
                        <a:rPr lang="de-DE" dirty="0"/>
                      </a:br>
                      <a:r>
                        <a:rPr lang="de-DE" dirty="0"/>
                        <a:t>als der übrigen Mehrzahl Steuerpflichtiger</a:t>
                      </a:r>
                      <a:br>
                        <a:rPr lang="de-DE" dirty="0"/>
                      </a:br>
                      <a:r>
                        <a:rPr lang="de-DE" dirty="0"/>
                        <a:t>mit gleichen Familien-,</a:t>
                      </a:r>
                      <a:r>
                        <a:rPr lang="de-DE" baseline="0" dirty="0"/>
                        <a:t> Einkommens- und</a:t>
                      </a:r>
                      <a:br>
                        <a:rPr lang="de-DE" baseline="0" dirty="0"/>
                      </a:br>
                      <a:r>
                        <a:rPr lang="de-DE" baseline="0" dirty="0"/>
                        <a:t>Vermögensverhältnissen </a:t>
                      </a:r>
                    </a:p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  <a:p>
                      <a:r>
                        <a:rPr lang="de-DE" dirty="0"/>
                        <a:t>abschließende</a:t>
                      </a:r>
                      <a:r>
                        <a:rPr lang="de-DE" baseline="0" dirty="0"/>
                        <a:t> Aufzählung</a:t>
                      </a:r>
                    </a:p>
                    <a:p>
                      <a:r>
                        <a:rPr lang="de-DE" baseline="0" dirty="0"/>
                        <a:t>im Gesetz ( §§  33a+b EStG )  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476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Krankheitskosten</a:t>
                      </a:r>
                      <a:r>
                        <a:rPr lang="de-DE" baseline="0" dirty="0"/>
                        <a:t> oder Beerdigungskosten für </a:t>
                      </a:r>
                      <a:br>
                        <a:rPr lang="de-DE" baseline="0" dirty="0"/>
                      </a:br>
                      <a:r>
                        <a:rPr lang="de-DE" baseline="0" dirty="0"/>
                        <a:t>mittellose Angehörige </a:t>
                      </a:r>
                    </a:p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Höchst- oder Pauschbeträge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545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Selbstbehalt abzuziehen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3378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Beispiel S. 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832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89695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511829" y="1131455"/>
            <a:ext cx="5837752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           typisierte Fälle                                                                      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	Unterstützungsleistungen für Angehörige</a:t>
            </a:r>
          </a:p>
          <a:p>
            <a:endParaRPr lang="de-DE" dirty="0"/>
          </a:p>
          <a:p>
            <a:r>
              <a:rPr lang="de-DE" dirty="0"/>
              <a:t>	Ausbildungsfreibetrag</a:t>
            </a:r>
          </a:p>
          <a:p>
            <a:endParaRPr lang="de-DE" dirty="0"/>
          </a:p>
          <a:p>
            <a:r>
              <a:rPr lang="de-DE" dirty="0"/>
              <a:t>	Behindertenfreibetrag</a:t>
            </a:r>
          </a:p>
          <a:p>
            <a:endParaRPr lang="de-DE" dirty="0"/>
          </a:p>
          <a:p>
            <a:r>
              <a:rPr lang="de-DE" dirty="0"/>
              <a:t>	Pflegepauschbetrag</a:t>
            </a:r>
          </a:p>
          <a:p>
            <a:endParaRPr lang="de-DE" dirty="0"/>
          </a:p>
          <a:p>
            <a:endParaRPr lang="de-DE" dirty="0"/>
          </a:p>
        </p:txBody>
      </p:sp>
      <p:cxnSp>
        <p:nvCxnSpPr>
          <p:cNvPr id="4" name="Gerader Verbinder 3"/>
          <p:cNvCxnSpPr/>
          <p:nvPr/>
        </p:nvCxnSpPr>
        <p:spPr>
          <a:xfrm flipV="1">
            <a:off x="2078182" y="1770611"/>
            <a:ext cx="7547956" cy="8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70767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/>
          <p:nvPr/>
        </p:nvSpPr>
        <p:spPr>
          <a:xfrm>
            <a:off x="698269" y="1039091"/>
            <a:ext cx="896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( B 12 ) 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653202A-E822-4310-A9F7-A8A2F501AA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129" y="1210959"/>
            <a:ext cx="9034943" cy="5151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3808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1928" y="1620982"/>
            <a:ext cx="8628612" cy="366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521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28218E2E-4885-4CE1-84E5-F62F0FA0FD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517" y="1316447"/>
            <a:ext cx="9437615" cy="427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3543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795551" y="1263534"/>
            <a:ext cx="825453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Einkünfte aus</a:t>
            </a:r>
          </a:p>
          <a:p>
            <a:endParaRPr lang="de-DE" dirty="0"/>
          </a:p>
          <a:p>
            <a:r>
              <a:rPr lang="de-DE" dirty="0"/>
              <a:t>Gewerbebetrieb ( er ) 				- 9.200</a:t>
            </a:r>
          </a:p>
          <a:p>
            <a:r>
              <a:rPr lang="de-DE" dirty="0"/>
              <a:t>nichtselbständiger Tätigkeit ( sie ) 			25.800</a:t>
            </a:r>
          </a:p>
          <a:p>
            <a:r>
              <a:rPr lang="de-DE" dirty="0"/>
              <a:t>Werbungskostenpauschale				- 1.230</a:t>
            </a:r>
          </a:p>
          <a:p>
            <a:r>
              <a:rPr lang="de-DE" dirty="0"/>
              <a:t>( 10 km x 0,30 €/km x 230 Tage = nur 690 € )	-----------------------</a:t>
            </a:r>
          </a:p>
          <a:p>
            <a:endParaRPr lang="de-DE" dirty="0"/>
          </a:p>
          <a:p>
            <a:r>
              <a:rPr lang="de-DE" dirty="0"/>
              <a:t>Gesamtbetrag der Einkünfte				15.370</a:t>
            </a:r>
          </a:p>
          <a:p>
            <a:r>
              <a:rPr lang="de-DE" dirty="0"/>
              <a:t>Sonderausgaben</a:t>
            </a:r>
          </a:p>
          <a:p>
            <a:r>
              <a:rPr lang="de-DE" dirty="0"/>
              <a:t>     Vorsorgeaufwendungen				- 4.200</a:t>
            </a:r>
          </a:p>
          <a:p>
            <a:r>
              <a:rPr lang="de-DE" dirty="0"/>
              <a:t>     Spende Greenpeace				-    300</a:t>
            </a:r>
          </a:p>
          <a:p>
            <a:r>
              <a:rPr lang="de-DE" dirty="0"/>
              <a:t>					-----------------------</a:t>
            </a:r>
          </a:p>
          <a:p>
            <a:r>
              <a:rPr lang="de-DE" dirty="0"/>
              <a:t>zu versteuerndes Einkommen				10.870  €</a:t>
            </a:r>
          </a:p>
          <a:p>
            <a:endParaRPr lang="de-DE" dirty="0"/>
          </a:p>
          <a:p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88819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795551" y="1263534"/>
            <a:ext cx="825453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festzusetzende Einkommensteuer			          </a:t>
            </a:r>
          </a:p>
          <a:p>
            <a:r>
              <a:rPr lang="de-DE" dirty="0"/>
              <a:t>da in der „</a:t>
            </a:r>
            <a:r>
              <a:rPr lang="de-DE" dirty="0" err="1"/>
              <a:t>Nullzone</a:t>
            </a:r>
            <a:r>
              <a:rPr lang="de-DE" dirty="0"/>
              <a:t>“ ( 2 x 12.096 € )			           0</a:t>
            </a:r>
          </a:p>
          <a:p>
            <a:endParaRPr lang="de-DE" dirty="0"/>
          </a:p>
          <a:p>
            <a:r>
              <a:rPr lang="de-DE" dirty="0"/>
              <a:t>einbehaltene Lohnsteuer ( sie ) </a:t>
            </a:r>
          </a:p>
          <a:p>
            <a:r>
              <a:rPr lang="de-DE" dirty="0"/>
              <a:t>= Einkommensteuervorauszahlung			- 5.500</a:t>
            </a:r>
          </a:p>
          <a:p>
            <a:endParaRPr lang="de-DE" dirty="0"/>
          </a:p>
          <a:p>
            <a:r>
              <a:rPr lang="de-DE" dirty="0"/>
              <a:t>					-----------------------</a:t>
            </a:r>
          </a:p>
          <a:p>
            <a:endParaRPr lang="de-DE" dirty="0"/>
          </a:p>
          <a:p>
            <a:r>
              <a:rPr lang="de-DE" dirty="0"/>
              <a:t>Erstattung					- 5.500  €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682263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B513E776-A4CD-4E6B-A735-03B092646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2965" y="1886672"/>
            <a:ext cx="9286613" cy="3542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3232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750265F0-D641-4E40-A5A9-C16B0AEA85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578" y="1870425"/>
            <a:ext cx="8984609" cy="3592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637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8706363F-BB68-4913-BFF2-4C36C36312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8407" y="2157390"/>
            <a:ext cx="9286614" cy="307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4443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945180" y="914400"/>
            <a:ext cx="825453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Einkünfte aus</a:t>
            </a:r>
          </a:p>
          <a:p>
            <a:endParaRPr lang="de-DE" dirty="0"/>
          </a:p>
          <a:p>
            <a:r>
              <a:rPr lang="de-DE" dirty="0"/>
              <a:t>Gewerbebetrieb ( er ) 				32.500</a:t>
            </a:r>
          </a:p>
          <a:p>
            <a:r>
              <a:rPr lang="de-DE" dirty="0"/>
              <a:t>selbständiger Tätigkeit ( sie ) </a:t>
            </a:r>
          </a:p>
          <a:p>
            <a:r>
              <a:rPr lang="de-DE" dirty="0"/>
              <a:t>     Einnahmen				   9.000</a:t>
            </a:r>
          </a:p>
          <a:p>
            <a:r>
              <a:rPr lang="de-DE" dirty="0"/>
              <a:t>     Ausgaben				-  1.900</a:t>
            </a:r>
          </a:p>
          <a:p>
            <a:r>
              <a:rPr lang="de-DE" dirty="0"/>
              <a:t>     = Einkünfte					   7.100</a:t>
            </a:r>
          </a:p>
          <a:p>
            <a:r>
              <a:rPr lang="de-DE" dirty="0"/>
              <a:t>Land- und Forstwirtschaft</a:t>
            </a:r>
          </a:p>
          <a:p>
            <a:r>
              <a:rPr lang="de-DE" dirty="0"/>
              <a:t>     Einnahmen				   8.000</a:t>
            </a:r>
          </a:p>
          <a:p>
            <a:r>
              <a:rPr lang="de-DE" dirty="0"/>
              <a:t>     Ausgaben				-  1.300</a:t>
            </a:r>
          </a:p>
          <a:p>
            <a:r>
              <a:rPr lang="de-DE" dirty="0"/>
              <a:t>     = Einkünfte					   6.700</a:t>
            </a:r>
          </a:p>
          <a:p>
            <a:r>
              <a:rPr lang="de-DE" dirty="0"/>
              <a:t>					       -------------------</a:t>
            </a:r>
          </a:p>
          <a:p>
            <a:r>
              <a:rPr lang="de-DE" dirty="0"/>
              <a:t>Gesamtbetrag der Einkünfte				 46.300</a:t>
            </a:r>
          </a:p>
          <a:p>
            <a:r>
              <a:rPr lang="de-DE" dirty="0"/>
              <a:t>Sonderausgaben</a:t>
            </a:r>
          </a:p>
          <a:p>
            <a:r>
              <a:rPr lang="de-DE" dirty="0"/>
              <a:t>     Vorsorgeaufwendungen				 - 4.800</a:t>
            </a:r>
          </a:p>
          <a:p>
            <a:r>
              <a:rPr lang="de-DE" dirty="0"/>
              <a:t>     Spende Greenpeace				 - 1.000</a:t>
            </a:r>
          </a:p>
          <a:p>
            <a:r>
              <a:rPr lang="de-DE" dirty="0"/>
              <a:t>					-----------------------</a:t>
            </a:r>
          </a:p>
          <a:p>
            <a:r>
              <a:rPr lang="de-DE" dirty="0"/>
              <a:t>zu versteuerndes Einkommen				 40.500 €</a:t>
            </a:r>
          </a:p>
          <a:p>
            <a:endParaRPr lang="de-DE" dirty="0"/>
          </a:p>
          <a:p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686737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795551" y="1263534"/>
            <a:ext cx="825453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de-DE" dirty="0"/>
            </a:br>
            <a:endParaRPr lang="de-DE" dirty="0"/>
          </a:p>
          <a:p>
            <a:r>
              <a:rPr lang="de-DE" dirty="0"/>
              <a:t>( C 5 )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Wie ist die Einfuhr von Gegenständen in das Inland </a:t>
            </a:r>
            <a:br>
              <a:rPr lang="de-DE" dirty="0"/>
            </a:br>
            <a:r>
              <a:rPr lang="de-DE" dirty="0"/>
              <a:t>umsatzsteuerlich geregelt ?</a:t>
            </a:r>
          </a:p>
          <a:p>
            <a:endParaRPr lang="de-DE" dirty="0"/>
          </a:p>
          <a:p>
            <a:r>
              <a:rPr lang="de-DE" dirty="0"/>
              <a:t>Welchen wirtschaftlichen Hintergrund hat dies ?</a:t>
            </a:r>
          </a:p>
          <a:p>
            <a:endParaRPr lang="de-DE" dirty="0"/>
          </a:p>
          <a:p>
            <a:r>
              <a:rPr lang="de-DE" dirty="0"/>
              <a:t>Gehen Sie hierbei auf den Begriff </a:t>
            </a:r>
          </a:p>
          <a:p>
            <a:r>
              <a:rPr lang="de-DE" dirty="0"/>
              <a:t>„Bestimmungslandprinzip“ ein.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057007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461193" y="1313257"/>
            <a:ext cx="9063956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                                  Einfuhr                                                                                                                         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		aus dem </a:t>
            </a:r>
            <a:r>
              <a:rPr lang="de-DE" dirty="0" err="1"/>
              <a:t>Drittlandsgebiet</a:t>
            </a:r>
            <a:r>
              <a:rPr lang="de-DE" dirty="0"/>
              <a:t> ( = nicht EU )</a:t>
            </a:r>
          </a:p>
          <a:p>
            <a:endParaRPr lang="de-DE" dirty="0"/>
          </a:p>
          <a:p>
            <a:r>
              <a:rPr lang="de-DE" dirty="0"/>
              <a:t>		Einfuhrumsatzsteuer beim Zoll</a:t>
            </a:r>
          </a:p>
          <a:p>
            <a:endParaRPr lang="de-DE" dirty="0"/>
          </a:p>
          <a:p>
            <a:r>
              <a:rPr lang="de-DE" dirty="0"/>
              <a:t>		gilt auch für Privatpersonen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		Beispiele S. 6</a:t>
            </a:r>
          </a:p>
          <a:p>
            <a:endParaRPr lang="de-DE" dirty="0"/>
          </a:p>
          <a:p>
            <a:r>
              <a:rPr lang="de-DE" dirty="0"/>
              <a:t>			</a:t>
            </a:r>
          </a:p>
          <a:p>
            <a:endParaRPr lang="de-DE" dirty="0"/>
          </a:p>
        </p:txBody>
      </p:sp>
      <p:cxnSp>
        <p:nvCxnSpPr>
          <p:cNvPr id="4" name="Gerader Verbinder 3"/>
          <p:cNvCxnSpPr/>
          <p:nvPr/>
        </p:nvCxnSpPr>
        <p:spPr>
          <a:xfrm flipV="1">
            <a:off x="2078182" y="1995055"/>
            <a:ext cx="7547956" cy="8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42350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461193" y="1321570"/>
            <a:ext cx="9114996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                                   Begriffe                                                                                                                         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		Bestimmungslandprinzip</a:t>
            </a:r>
          </a:p>
          <a:p>
            <a:r>
              <a:rPr lang="de-DE" dirty="0"/>
              <a:t>			es besteuert das Land, in das hineingeliefert wird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		Ursprungslandprinzip</a:t>
            </a:r>
          </a:p>
          <a:p>
            <a:r>
              <a:rPr lang="de-DE" dirty="0"/>
              <a:t>			es besteuert das Land, in dem gekauft wurde</a:t>
            </a:r>
          </a:p>
          <a:p>
            <a:endParaRPr lang="de-DE" dirty="0"/>
          </a:p>
          <a:p>
            <a:r>
              <a:rPr lang="de-DE" dirty="0"/>
              <a:t>		</a:t>
            </a:r>
          </a:p>
          <a:p>
            <a:r>
              <a:rPr lang="de-DE" dirty="0"/>
              <a:t>			</a:t>
            </a:r>
          </a:p>
          <a:p>
            <a:endParaRPr lang="de-DE" dirty="0"/>
          </a:p>
        </p:txBody>
      </p:sp>
      <p:cxnSp>
        <p:nvCxnSpPr>
          <p:cNvPr id="4" name="Gerader Verbinder 3"/>
          <p:cNvCxnSpPr/>
          <p:nvPr/>
        </p:nvCxnSpPr>
        <p:spPr>
          <a:xfrm flipV="1">
            <a:off x="2078182" y="1995055"/>
            <a:ext cx="7547956" cy="8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41544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964580" y="998377"/>
            <a:ext cx="92635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                                                         Beispiele zur Abgrenzung                                                                     </a:t>
            </a:r>
          </a:p>
          <a:p>
            <a:endParaRPr lang="de-DE" dirty="0"/>
          </a:p>
          <a:p>
            <a:endParaRPr lang="de-DE" dirty="0"/>
          </a:p>
        </p:txBody>
      </p:sp>
      <p:cxnSp>
        <p:nvCxnSpPr>
          <p:cNvPr id="4" name="Gerader Verbinder 3"/>
          <p:cNvCxnSpPr/>
          <p:nvPr/>
        </p:nvCxnSpPr>
        <p:spPr>
          <a:xfrm flipV="1">
            <a:off x="1479093" y="1616683"/>
            <a:ext cx="7547956" cy="8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el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776359"/>
              </p:ext>
            </p:extLst>
          </p:nvPr>
        </p:nvGraphicFramePr>
        <p:xfrm>
          <a:off x="1479093" y="2195493"/>
          <a:ext cx="8128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Inland BRD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Übrige</a:t>
                      </a:r>
                      <a:r>
                        <a:rPr lang="de-DE" baseline="0" dirty="0"/>
                        <a:t> EU-Staaten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Drittland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  <a:p>
                      <a:r>
                        <a:rPr lang="de-DE" dirty="0"/>
                        <a:t>Privatperson</a:t>
                      </a:r>
                    </a:p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  <a:p>
                      <a:r>
                        <a:rPr lang="de-DE" dirty="0"/>
                        <a:t>Steuerträger </a:t>
                      </a:r>
                      <a:br>
                        <a:rPr lang="de-DE" dirty="0"/>
                      </a:br>
                      <a:r>
                        <a:rPr lang="de-DE" dirty="0"/>
                        <a:t>für </a:t>
                      </a:r>
                      <a:r>
                        <a:rPr lang="de-DE" dirty="0" err="1"/>
                        <a:t>USt</a:t>
                      </a:r>
                      <a:endParaRPr lang="de-DE" dirty="0"/>
                    </a:p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  <a:p>
                      <a:r>
                        <a:rPr lang="de-DE" dirty="0"/>
                        <a:t>ULP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  <a:p>
                      <a:r>
                        <a:rPr lang="de-DE" dirty="0"/>
                        <a:t>BLP ( </a:t>
                      </a:r>
                      <a:r>
                        <a:rPr lang="de-DE" dirty="0" err="1"/>
                        <a:t>EUSt</a:t>
                      </a:r>
                      <a:r>
                        <a:rPr lang="de-DE" dirty="0"/>
                        <a:t> )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  <a:p>
                      <a:r>
                        <a:rPr lang="de-DE" dirty="0"/>
                        <a:t>Unternehmer</a:t>
                      </a:r>
                    </a:p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  <a:p>
                      <a:r>
                        <a:rPr lang="de-DE" dirty="0"/>
                        <a:t>Keine Belastung durch Vorsteuerabzug</a:t>
                      </a:r>
                    </a:p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  <a:p>
                      <a:r>
                        <a:rPr lang="de-DE" dirty="0"/>
                        <a:t>BLP</a:t>
                      </a:r>
                      <a:br>
                        <a:rPr lang="de-DE" dirty="0"/>
                      </a:b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  <a:p>
                      <a:r>
                        <a:rPr lang="de-DE" dirty="0"/>
                        <a:t>BLP ( </a:t>
                      </a:r>
                      <a:r>
                        <a:rPr lang="de-DE" dirty="0" err="1"/>
                        <a:t>EUSt</a:t>
                      </a:r>
                      <a:r>
                        <a:rPr lang="de-DE" dirty="0"/>
                        <a:t> 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74333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795551" y="1263534"/>
            <a:ext cx="825453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de-DE" dirty="0"/>
            </a:br>
            <a:endParaRPr lang="de-DE" dirty="0"/>
          </a:p>
          <a:p>
            <a:r>
              <a:rPr lang="de-DE" dirty="0"/>
              <a:t>( C 6 )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Erläutern Sie kurz das Grundprinzip bei Lieferungen zwischen zwei</a:t>
            </a:r>
          </a:p>
          <a:p>
            <a:r>
              <a:rPr lang="de-DE" dirty="0"/>
              <a:t>Unternehmen innerhalb der Länder der Europäischen Union.</a:t>
            </a:r>
          </a:p>
          <a:p>
            <a:endParaRPr lang="de-DE" dirty="0"/>
          </a:p>
          <a:p>
            <a:r>
              <a:rPr lang="de-DE" dirty="0"/>
              <a:t>Wie ist umsatzsteuerlich zu verfahren, wenn die Pizzeria in Ludwigshafen</a:t>
            </a:r>
          </a:p>
          <a:p>
            <a:r>
              <a:rPr lang="de-DE" dirty="0"/>
              <a:t>Salami direkt aus Italien bezieht ?</a:t>
            </a:r>
          </a:p>
          <a:p>
            <a:endParaRPr lang="de-DE" dirty="0"/>
          </a:p>
          <a:p>
            <a:r>
              <a:rPr lang="de-DE" dirty="0"/>
              <a:t>Welche Nachweise und Meldungen müssen geführt werden ?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780908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461193" y="1321570"/>
            <a:ext cx="9590254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                                  Innergemeinschaftlicher Erwerb                                                                                      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		Lieferungen zwischen zwei Unternehmen</a:t>
            </a:r>
          </a:p>
          <a:p>
            <a:endParaRPr lang="de-DE" dirty="0"/>
          </a:p>
          <a:p>
            <a:r>
              <a:rPr lang="de-DE" dirty="0"/>
              <a:t>		innerhalb der Staaten der Europäischen Union</a:t>
            </a:r>
          </a:p>
          <a:p>
            <a:endParaRPr lang="de-DE" dirty="0"/>
          </a:p>
          <a:p>
            <a:r>
              <a:rPr lang="de-DE" dirty="0"/>
              <a:t>		Lieferung = umsatzsteuerfrei</a:t>
            </a:r>
          </a:p>
          <a:p>
            <a:endParaRPr lang="de-DE" dirty="0"/>
          </a:p>
          <a:p>
            <a:r>
              <a:rPr lang="de-DE" dirty="0"/>
              <a:t>		Erwerb = umsatzsteuerpflichtig </a:t>
            </a:r>
          </a:p>
          <a:p>
            <a:endParaRPr lang="de-DE" dirty="0"/>
          </a:p>
          <a:p>
            <a:r>
              <a:rPr lang="de-DE" dirty="0"/>
              <a:t>		</a:t>
            </a:r>
            <a:r>
              <a:rPr lang="de-DE" dirty="0" err="1"/>
              <a:t>USt</a:t>
            </a:r>
            <a:r>
              <a:rPr lang="de-DE" dirty="0"/>
              <a:t>-ID-Nummer als Nachweis 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	Beispiel S. 7			</a:t>
            </a:r>
          </a:p>
          <a:p>
            <a:endParaRPr lang="de-DE" dirty="0"/>
          </a:p>
        </p:txBody>
      </p:sp>
      <p:cxnSp>
        <p:nvCxnSpPr>
          <p:cNvPr id="4" name="Gerader Verbinder 3"/>
          <p:cNvCxnSpPr/>
          <p:nvPr/>
        </p:nvCxnSpPr>
        <p:spPr>
          <a:xfrm flipV="1">
            <a:off x="2078182" y="1995055"/>
            <a:ext cx="7547956" cy="8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25951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654233" y="997527"/>
            <a:ext cx="8965916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                                                                                                                                                                      </a:t>
            </a:r>
          </a:p>
          <a:p>
            <a:r>
              <a:rPr lang="de-DE" dirty="0"/>
              <a:t>                        Frankreich                                                              Deutschland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	Unternehmer				Unternehmer</a:t>
            </a:r>
          </a:p>
          <a:p>
            <a:r>
              <a:rPr lang="de-DE" dirty="0"/>
              <a:t>	</a:t>
            </a:r>
            <a:r>
              <a:rPr lang="de-DE" dirty="0" err="1"/>
              <a:t>USt</a:t>
            </a:r>
            <a:r>
              <a:rPr lang="de-DE" dirty="0"/>
              <a:t>-ID-Nr.				</a:t>
            </a:r>
            <a:r>
              <a:rPr lang="de-DE" dirty="0" err="1"/>
              <a:t>USt</a:t>
            </a:r>
            <a:r>
              <a:rPr lang="de-DE" dirty="0"/>
              <a:t>-ID-Nr.</a:t>
            </a:r>
          </a:p>
          <a:p>
            <a:r>
              <a:rPr lang="de-DE" dirty="0"/>
              <a:t>		             Lieferung ohne</a:t>
            </a:r>
          </a:p>
          <a:p>
            <a:r>
              <a:rPr lang="de-DE" dirty="0"/>
              <a:t>		             französische </a:t>
            </a:r>
            <a:r>
              <a:rPr lang="de-DE" dirty="0" err="1"/>
              <a:t>USt</a:t>
            </a:r>
            <a:r>
              <a:rPr lang="de-DE" dirty="0"/>
              <a:t>                                                </a:t>
            </a:r>
            <a:r>
              <a:rPr lang="de-DE" dirty="0" err="1"/>
              <a:t>USt</a:t>
            </a:r>
            <a:endParaRPr lang="de-DE" dirty="0"/>
          </a:p>
          <a:p>
            <a:r>
              <a:rPr lang="de-DE" dirty="0"/>
              <a:t>						Vorsteuer</a:t>
            </a:r>
          </a:p>
          <a:p>
            <a:endParaRPr lang="de-DE" dirty="0"/>
          </a:p>
          <a:p>
            <a:r>
              <a:rPr lang="de-DE" dirty="0"/>
              <a:t>	Meldebehörde				      Finanzamt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	                 		eventuell Kontrolle </a:t>
            </a:r>
          </a:p>
          <a:p>
            <a:endParaRPr lang="de-DE" dirty="0"/>
          </a:p>
          <a:p>
            <a:endParaRPr lang="de-DE" dirty="0"/>
          </a:p>
        </p:txBody>
      </p:sp>
      <p:cxnSp>
        <p:nvCxnSpPr>
          <p:cNvPr id="4" name="Gerade Verbindung mit Pfeil 3"/>
          <p:cNvCxnSpPr/>
          <p:nvPr/>
        </p:nvCxnSpPr>
        <p:spPr>
          <a:xfrm flipV="1">
            <a:off x="4139738" y="2951018"/>
            <a:ext cx="2884517" cy="24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 Verbindung mit Pfeil 5"/>
          <p:cNvCxnSpPr/>
          <p:nvPr/>
        </p:nvCxnSpPr>
        <p:spPr>
          <a:xfrm>
            <a:off x="8395855" y="3158836"/>
            <a:ext cx="58189" cy="10889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/>
          <p:cNvCxnSpPr/>
          <p:nvPr/>
        </p:nvCxnSpPr>
        <p:spPr>
          <a:xfrm flipH="1" flipV="1">
            <a:off x="7572895" y="3275215"/>
            <a:ext cx="24938" cy="972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/>
          <p:cNvCxnSpPr/>
          <p:nvPr/>
        </p:nvCxnSpPr>
        <p:spPr>
          <a:xfrm>
            <a:off x="3175462" y="3374967"/>
            <a:ext cx="16625" cy="8728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/>
          <p:cNvCxnSpPr/>
          <p:nvPr/>
        </p:nvCxnSpPr>
        <p:spPr>
          <a:xfrm flipV="1">
            <a:off x="3275215" y="4871258"/>
            <a:ext cx="4613563" cy="33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773010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795551" y="1263534"/>
            <a:ext cx="825453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de-DE" dirty="0"/>
            </a:br>
            <a:endParaRPr lang="de-DE" dirty="0"/>
          </a:p>
          <a:p>
            <a:r>
              <a:rPr lang="de-DE" dirty="0"/>
              <a:t>( C 8 )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Erklären Sie kurz die Durchführung der Besteuerung bei der Umsatzsteuer</a:t>
            </a:r>
          </a:p>
          <a:p>
            <a:endParaRPr lang="de-DE" dirty="0"/>
          </a:p>
          <a:p>
            <a:r>
              <a:rPr lang="de-DE" dirty="0"/>
              <a:t>Erläutern Sie hierbei die Begriffe</a:t>
            </a:r>
          </a:p>
          <a:p>
            <a:endParaRPr lang="de-DE" dirty="0"/>
          </a:p>
          <a:p>
            <a:r>
              <a:rPr lang="de-DE" dirty="0"/>
              <a:t>--- Umsatzsteuervoranmeldung</a:t>
            </a:r>
          </a:p>
          <a:p>
            <a:r>
              <a:rPr lang="de-DE" dirty="0"/>
              <a:t>--- Umsatzsteuerjahreserklärung</a:t>
            </a:r>
          </a:p>
          <a:p>
            <a:r>
              <a:rPr lang="de-DE" dirty="0"/>
              <a:t>--- Zusammenfassende Meldung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1997323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486132" y="1313257"/>
            <a:ext cx="6248314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  <a:p>
            <a:r>
              <a:rPr lang="de-DE" dirty="0"/>
              <a:t>Umsatzsteuervoranmeldungen</a:t>
            </a:r>
          </a:p>
          <a:p>
            <a:endParaRPr lang="de-DE" dirty="0"/>
          </a:p>
          <a:p>
            <a:r>
              <a:rPr lang="de-DE" dirty="0"/>
              <a:t>monatlich oder vierteljährlich</a:t>
            </a:r>
          </a:p>
          <a:p>
            <a:r>
              <a:rPr lang="de-DE" dirty="0"/>
              <a:t>( je nach Höhe der gezahlten Umsatzsteuer des Vorjahres )</a:t>
            </a:r>
          </a:p>
          <a:p>
            <a:endParaRPr lang="de-DE" dirty="0"/>
          </a:p>
          <a:p>
            <a:r>
              <a:rPr lang="de-DE" dirty="0"/>
              <a:t>bis spätestens zehn Tage nach Ablauf des Voranmeldezeitraumes</a:t>
            </a:r>
          </a:p>
          <a:p>
            <a:endParaRPr lang="de-DE" dirty="0"/>
          </a:p>
          <a:p>
            <a:r>
              <a:rPr lang="de-DE" dirty="0"/>
              <a:t>Umsatzsteuer minus Vorsteuer aus der Finanzbuchführung</a:t>
            </a:r>
          </a:p>
          <a:p>
            <a:endParaRPr lang="de-DE" dirty="0"/>
          </a:p>
          <a:p>
            <a:r>
              <a:rPr lang="de-DE" dirty="0"/>
              <a:t>elektronisch per ELSTER an Finanzamt anmelden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911636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486132" y="1313257"/>
            <a:ext cx="8900322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  <a:p>
            <a:endParaRPr lang="de-DE" dirty="0"/>
          </a:p>
          <a:p>
            <a:r>
              <a:rPr lang="de-DE" dirty="0"/>
              <a:t>Umsatzsteuer ( </a:t>
            </a:r>
            <a:r>
              <a:rPr lang="de-DE" dirty="0" err="1"/>
              <a:t>jahres</a:t>
            </a:r>
            <a:r>
              <a:rPr lang="de-DE" dirty="0"/>
              <a:t> ) </a:t>
            </a:r>
            <a:r>
              <a:rPr lang="de-DE" dirty="0" err="1"/>
              <a:t>erklärung</a:t>
            </a:r>
            <a:r>
              <a:rPr lang="de-DE" dirty="0"/>
              <a:t>                                                                                                          </a:t>
            </a:r>
          </a:p>
          <a:p>
            <a:endParaRPr lang="de-DE" dirty="0"/>
          </a:p>
          <a:p>
            <a:r>
              <a:rPr lang="de-DE" dirty="0"/>
              <a:t>in Übereinstimmung mit den Zahlen aus Bilanz mit GuV-Rechnung oder</a:t>
            </a:r>
          </a:p>
          <a:p>
            <a:r>
              <a:rPr lang="de-DE" dirty="0"/>
              <a:t>Gewinnermittlung durch Einnahme-Überschuss-Rechnung</a:t>
            </a:r>
          </a:p>
          <a:p>
            <a:endParaRPr lang="de-DE" dirty="0"/>
          </a:p>
          <a:p>
            <a:r>
              <a:rPr lang="de-DE" dirty="0"/>
              <a:t>wobei die angemeldeten und geleisteten Vorauszahlungen</a:t>
            </a:r>
          </a:p>
          <a:p>
            <a:r>
              <a:rPr lang="de-DE" dirty="0"/>
              <a:t>abgezogen werden 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520693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486132" y="1313257"/>
            <a:ext cx="8837932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  <a:p>
            <a:endParaRPr lang="de-DE" dirty="0"/>
          </a:p>
          <a:p>
            <a:r>
              <a:rPr lang="de-DE" dirty="0"/>
              <a:t>Zusammenfassende Meldungen                                                                                                           </a:t>
            </a:r>
          </a:p>
          <a:p>
            <a:endParaRPr lang="de-DE" dirty="0"/>
          </a:p>
          <a:p>
            <a:r>
              <a:rPr lang="de-DE" dirty="0"/>
              <a:t>zusammen mit  den Umsatzsteuervoranmeldungen </a:t>
            </a:r>
          </a:p>
          <a:p>
            <a:endParaRPr lang="de-DE" dirty="0"/>
          </a:p>
          <a:p>
            <a:r>
              <a:rPr lang="de-DE" dirty="0"/>
              <a:t>für umsatzsteuerfreie innergemeinschaftliche Lieferungen </a:t>
            </a:r>
          </a:p>
          <a:p>
            <a:r>
              <a:rPr lang="de-DE" dirty="0"/>
              <a:t>an Unternehmer mit </a:t>
            </a:r>
            <a:r>
              <a:rPr lang="de-DE" dirty="0" err="1"/>
              <a:t>USt</a:t>
            </a:r>
            <a:r>
              <a:rPr lang="de-DE" dirty="0"/>
              <a:t>-ID-Nummer</a:t>
            </a:r>
          </a:p>
          <a:p>
            <a:endParaRPr lang="de-DE" dirty="0"/>
          </a:p>
          <a:p>
            <a:r>
              <a:rPr lang="de-DE" dirty="0"/>
              <a:t>elektronisch übermittelt an das Bundesamt der Finanzen in Saarlouis</a:t>
            </a:r>
          </a:p>
          <a:p>
            <a:endParaRPr lang="de-DE" dirty="0"/>
          </a:p>
          <a:p>
            <a:r>
              <a:rPr lang="de-DE" dirty="0"/>
              <a:t>Gemeldet werden per Datensatz jeweils</a:t>
            </a:r>
          </a:p>
          <a:p>
            <a:r>
              <a:rPr lang="de-DE" dirty="0" err="1"/>
              <a:t>USt</a:t>
            </a:r>
            <a:r>
              <a:rPr lang="de-DE" dirty="0"/>
              <a:t>-ID-Nummer und Höhe des Umsatzes 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284858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795551" y="1263534"/>
            <a:ext cx="825453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de-DE" dirty="0"/>
            </a:br>
            <a:endParaRPr lang="de-DE" dirty="0"/>
          </a:p>
          <a:p>
            <a:r>
              <a:rPr lang="de-DE" dirty="0"/>
              <a:t>( C 10 )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Erläutern Sie an einem Beispiel den</a:t>
            </a:r>
          </a:p>
          <a:p>
            <a:endParaRPr lang="de-DE" dirty="0"/>
          </a:p>
          <a:p>
            <a:r>
              <a:rPr lang="de-DE" dirty="0"/>
              <a:t>„Verzicht auf eine Befreiungsvorschrift“ oder</a:t>
            </a:r>
          </a:p>
          <a:p>
            <a:r>
              <a:rPr lang="de-DE" dirty="0"/>
              <a:t>„Option zur Normalbesteuerung“ </a:t>
            </a:r>
          </a:p>
          <a:p>
            <a:endParaRPr lang="de-DE" dirty="0"/>
          </a:p>
          <a:p>
            <a:r>
              <a:rPr lang="de-DE" dirty="0"/>
              <a:t>bei der Umsatzsteuer.</a:t>
            </a:r>
          </a:p>
          <a:p>
            <a:endParaRPr lang="de-DE" dirty="0"/>
          </a:p>
          <a:p>
            <a:r>
              <a:rPr lang="de-DE" dirty="0"/>
              <a:t>In welchen Fällen ist dies wirtschaftlich sinnvoll ?</a:t>
            </a:r>
          </a:p>
          <a:p>
            <a:endParaRPr lang="de-DE" dirty="0"/>
          </a:p>
          <a:p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076696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461193" y="1313257"/>
            <a:ext cx="9778190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                                 Steuerfreie Umsätze mit Optionsmöglichkeit                                                                      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		Leistung an einen anderen Unternehmer</a:t>
            </a:r>
          </a:p>
          <a:p>
            <a:r>
              <a:rPr lang="de-DE" dirty="0"/>
              <a:t>		für dessen Unternehmen</a:t>
            </a:r>
          </a:p>
          <a:p>
            <a:endParaRPr lang="de-DE" dirty="0"/>
          </a:p>
          <a:p>
            <a:r>
              <a:rPr lang="de-DE" dirty="0"/>
              <a:t>		Empfänger hat vollen Vorsteuerabzug</a:t>
            </a:r>
          </a:p>
          <a:p>
            <a:endParaRPr lang="de-DE" dirty="0"/>
          </a:p>
          <a:p>
            <a:r>
              <a:rPr lang="de-DE" dirty="0"/>
              <a:t>		durch steuerpflichtige Umsätze</a:t>
            </a:r>
          </a:p>
          <a:p>
            <a:r>
              <a:rPr lang="de-DE" dirty="0"/>
              <a:t>		gewinnt Leistender Unternehmer </a:t>
            </a:r>
          </a:p>
          <a:p>
            <a:r>
              <a:rPr lang="de-DE" dirty="0"/>
              <a:t>		eigenen Vorsteuerabzug</a:t>
            </a:r>
          </a:p>
          <a:p>
            <a:endParaRPr lang="de-DE" dirty="0"/>
          </a:p>
          <a:p>
            <a:r>
              <a:rPr lang="de-DE" dirty="0"/>
              <a:t>		</a:t>
            </a:r>
          </a:p>
          <a:p>
            <a:endParaRPr lang="de-DE" dirty="0"/>
          </a:p>
          <a:p>
            <a:r>
              <a:rPr lang="de-DE" dirty="0"/>
              <a:t>		Beispiel S. 16 „</a:t>
            </a:r>
            <a:r>
              <a:rPr lang="de-DE" dirty="0" err="1"/>
              <a:t>Blofeld</a:t>
            </a:r>
            <a:r>
              <a:rPr lang="de-DE" dirty="0"/>
              <a:t>“</a:t>
            </a:r>
          </a:p>
          <a:p>
            <a:endParaRPr lang="de-DE" dirty="0"/>
          </a:p>
        </p:txBody>
      </p:sp>
      <p:cxnSp>
        <p:nvCxnSpPr>
          <p:cNvPr id="4" name="Gerader Verbinder 3"/>
          <p:cNvCxnSpPr/>
          <p:nvPr/>
        </p:nvCxnSpPr>
        <p:spPr>
          <a:xfrm flipV="1">
            <a:off x="2078182" y="1995055"/>
            <a:ext cx="7547956" cy="8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13929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669" y="1255222"/>
            <a:ext cx="9010996" cy="4181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34206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429" y="1446414"/>
            <a:ext cx="8038407" cy="3857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00473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6865" y="1064028"/>
            <a:ext cx="8262851" cy="4813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34620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9993" y="1271847"/>
            <a:ext cx="7963592" cy="4347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42651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766292" y="1529388"/>
            <a:ext cx="5877443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                                                                     </a:t>
            </a:r>
          </a:p>
          <a:p>
            <a:r>
              <a:rPr lang="de-DE" dirty="0"/>
              <a:t>Tatbestand</a:t>
            </a:r>
          </a:p>
          <a:p>
            <a:r>
              <a:rPr lang="de-DE" dirty="0"/>
              <a:t>Einfuhr von Gegenständen aus dem Drittland ( Nicht-EU )</a:t>
            </a:r>
          </a:p>
          <a:p>
            <a:endParaRPr lang="de-DE" dirty="0"/>
          </a:p>
          <a:p>
            <a:r>
              <a:rPr lang="de-DE" dirty="0"/>
              <a:t>gilt für Unternehmer und auch für Privatpersonen</a:t>
            </a:r>
          </a:p>
          <a:p>
            <a:endParaRPr lang="de-DE" dirty="0"/>
          </a:p>
          <a:p>
            <a:r>
              <a:rPr lang="de-DE" dirty="0"/>
              <a:t>das Bestimmungslandprinzip kommt zur Anwendung</a:t>
            </a:r>
          </a:p>
          <a:p>
            <a:endParaRPr lang="de-DE" dirty="0"/>
          </a:p>
          <a:p>
            <a:r>
              <a:rPr lang="de-DE" dirty="0"/>
              <a:t>das Exportland ( Schweiz ) stellt von seiner Umsatzsteuer frei</a:t>
            </a:r>
          </a:p>
          <a:p>
            <a:r>
              <a:rPr lang="de-DE" dirty="0"/>
              <a:t>das Importland ( Deutschland ) erhebt am Zoll</a:t>
            </a:r>
          </a:p>
          <a:p>
            <a:r>
              <a:rPr lang="de-DE" dirty="0"/>
              <a:t>die 19 %-</a:t>
            </a:r>
            <a:r>
              <a:rPr lang="de-DE" dirty="0" err="1"/>
              <a:t>ige</a:t>
            </a:r>
            <a:r>
              <a:rPr lang="de-DE" dirty="0"/>
              <a:t> deutsche Einfuhrumsatzsteuer</a:t>
            </a:r>
          </a:p>
          <a:p>
            <a:endParaRPr lang="de-DE" dirty="0"/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de-DE" dirty="0">
                <a:sym typeface="Wingdings" panose="05000000000000000000" pitchFamily="2" charset="2"/>
              </a:rPr>
              <a:t>Wettbewerbsneutralität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de-DE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69319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2169</Words>
  <Application>Microsoft Office PowerPoint</Application>
  <PresentationFormat>Breitbild</PresentationFormat>
  <Paragraphs>661</Paragraphs>
  <Slides>60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60</vt:i4>
      </vt:variant>
    </vt:vector>
  </HeadingPairs>
  <TitlesOfParts>
    <vt:vector size="66" baseType="lpstr">
      <vt:lpstr>Arial</vt:lpstr>
      <vt:lpstr>Calibri</vt:lpstr>
      <vt:lpstr>Calibri Light</vt:lpstr>
      <vt:lpstr>Times New Roman</vt:lpstr>
      <vt:lpstr>Wingdings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Thomas Morstatt</dc:creator>
  <cp:lastModifiedBy>Thomas Morstatt | Steuerberater-Sozietät Morstatt</cp:lastModifiedBy>
  <cp:revision>46</cp:revision>
  <dcterms:created xsi:type="dcterms:W3CDTF">2021-06-13T16:39:23Z</dcterms:created>
  <dcterms:modified xsi:type="dcterms:W3CDTF">2026-05-18T09:37:58Z</dcterms:modified>
</cp:coreProperties>
</file>