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5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9" r:id="rId27"/>
    <p:sldId id="287" r:id="rId28"/>
    <p:sldId id="288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8" r:id="rId37"/>
    <p:sldId id="297" r:id="rId38"/>
    <p:sldId id="299" r:id="rId39"/>
    <p:sldId id="300" r:id="rId40"/>
    <p:sldId id="301" r:id="rId41"/>
    <p:sldId id="302" r:id="rId42"/>
    <p:sldId id="308" r:id="rId43"/>
    <p:sldId id="303" r:id="rId44"/>
    <p:sldId id="309" r:id="rId45"/>
    <p:sldId id="304" r:id="rId46"/>
    <p:sldId id="310" r:id="rId47"/>
    <p:sldId id="305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9" r:id="rId56"/>
    <p:sldId id="320" r:id="rId57"/>
    <p:sldId id="318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2" r:id="rId69"/>
    <p:sldId id="331" r:id="rId7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741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848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22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824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304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31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485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8481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5973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176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856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C7174-56DD-4430-AD7F-4458FD0FAC2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BABDB-A305-40B3-BA54-5AE2FB12A5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35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unternehmensregister.de/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593571" y="1147156"/>
            <a:ext cx="69577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Ausgewählte Übungsaufgaben zur Klausurvorbereitung  </a:t>
            </a:r>
          </a:p>
          <a:p>
            <a:r>
              <a:rPr lang="de-DE" dirty="0"/>
              <a:t>Teilgebiet Jahresabschluss im SS 2026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	Grundlagen		3 , 4 , 6</a:t>
            </a:r>
            <a:br>
              <a:rPr lang="de-DE" dirty="0"/>
            </a:br>
            <a:endParaRPr lang="de-DE" dirty="0"/>
          </a:p>
          <a:p>
            <a:r>
              <a:rPr lang="de-DE" dirty="0"/>
              <a:t>B	G o B 			2 , 3 , 10</a:t>
            </a:r>
          </a:p>
          <a:p>
            <a:endParaRPr lang="de-DE" dirty="0"/>
          </a:p>
          <a:p>
            <a:r>
              <a:rPr lang="de-DE" dirty="0"/>
              <a:t>C	Umfang	 		1 , 4 </a:t>
            </a:r>
          </a:p>
          <a:p>
            <a:endParaRPr lang="de-DE" dirty="0"/>
          </a:p>
          <a:p>
            <a:r>
              <a:rPr lang="de-DE" dirty="0"/>
              <a:t>D	Ansatz, Gliederung, </a:t>
            </a:r>
            <a:br>
              <a:rPr lang="de-DE" dirty="0"/>
            </a:br>
            <a:r>
              <a:rPr lang="de-DE" dirty="0"/>
              <a:t>	Bewertung		3 , 10 , 12 , 14 , 17 , 18 , 19 , 20</a:t>
            </a:r>
          </a:p>
          <a:p>
            <a:endParaRPr lang="de-DE" dirty="0"/>
          </a:p>
          <a:p>
            <a:r>
              <a:rPr lang="de-DE" dirty="0"/>
              <a:t>E	Bilanzierung A + P		4 , 5 , 6 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668385" y="1837113"/>
            <a:ext cx="6442364" cy="24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34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A 3 )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Nennen Sie verschiedene Rechtsformen </a:t>
            </a:r>
          </a:p>
          <a:p>
            <a:r>
              <a:rPr lang="de-DE" dirty="0"/>
              <a:t>einer unternehmerischen Betätigung.</a:t>
            </a:r>
          </a:p>
          <a:p>
            <a:endParaRPr lang="de-DE" dirty="0"/>
          </a:p>
          <a:p>
            <a:r>
              <a:rPr lang="de-DE" dirty="0"/>
              <a:t>Welche Gestaltung sollte gewählt werden, </a:t>
            </a:r>
          </a:p>
          <a:p>
            <a:r>
              <a:rPr lang="de-DE" dirty="0"/>
              <a:t>wenn der Firmeninhaber sein Privatvermögen</a:t>
            </a:r>
          </a:p>
          <a:p>
            <a:r>
              <a:rPr lang="de-DE" dirty="0"/>
              <a:t>vor dem Zugriff der Firmen-Gläubiger schützen will ?</a:t>
            </a:r>
          </a:p>
          <a:p>
            <a:endParaRPr lang="de-DE" dirty="0"/>
          </a:p>
          <a:p>
            <a:r>
              <a:rPr lang="de-DE" dirty="0"/>
              <a:t>Wie werden die Unternehmensgewinne</a:t>
            </a:r>
          </a:p>
          <a:p>
            <a:r>
              <a:rPr lang="de-DE" dirty="0"/>
              <a:t>der einzelnen Rechtsformen besteuert ?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413118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512917" y="798021"/>
            <a:ext cx="936788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     Unternehmensformen           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Einzelunternehmen			volle Haftung für betriebliche Schulden</a:t>
            </a:r>
          </a:p>
          <a:p>
            <a:r>
              <a:rPr lang="de-DE" dirty="0"/>
              <a:t>						---   ESt und GewSt</a:t>
            </a:r>
          </a:p>
          <a:p>
            <a:r>
              <a:rPr lang="de-DE" dirty="0"/>
              <a:t>	Personengesellschaften		</a:t>
            </a:r>
          </a:p>
          <a:p>
            <a:r>
              <a:rPr lang="de-DE" dirty="0"/>
              <a:t>	GbR und OHG			mit Firmen- und Privatvermögen</a:t>
            </a:r>
          </a:p>
          <a:p>
            <a:r>
              <a:rPr lang="de-DE" dirty="0"/>
              <a:t>						---   ESt der Gesellschafter und GewSt</a:t>
            </a:r>
          </a:p>
          <a:p>
            <a:endParaRPr lang="de-DE" dirty="0"/>
          </a:p>
          <a:p>
            <a:r>
              <a:rPr lang="de-DE" dirty="0"/>
              <a:t>	KG und Sonderform GmbH &amp; Co KG	Kommanditisten	= Teilhafter	</a:t>
            </a:r>
          </a:p>
          <a:p>
            <a:r>
              <a:rPr lang="de-DE" dirty="0"/>
              <a:t>					Komplementäre	= Vollhafter</a:t>
            </a:r>
          </a:p>
          <a:p>
            <a:r>
              <a:rPr lang="de-DE" dirty="0"/>
              <a:t>						---   ESt der Gesellschafter und GewSt</a:t>
            </a:r>
          </a:p>
          <a:p>
            <a:endParaRPr lang="de-DE" dirty="0"/>
          </a:p>
          <a:p>
            <a:r>
              <a:rPr lang="de-DE" dirty="0"/>
              <a:t>	Kapitalgesellschaften</a:t>
            </a:r>
          </a:p>
          <a:p>
            <a:r>
              <a:rPr lang="de-DE" dirty="0"/>
              <a:t>	AG, GmbH, UG, KGaA 		Haftkapital der Anteilseigner</a:t>
            </a:r>
          </a:p>
          <a:p>
            <a:r>
              <a:rPr lang="de-DE" dirty="0"/>
              <a:t>						---   </a:t>
            </a:r>
            <a:r>
              <a:rPr lang="de-DE" dirty="0" err="1"/>
              <a:t>KSt</a:t>
            </a:r>
            <a:r>
              <a:rPr lang="de-DE" dirty="0"/>
              <a:t> und GewSt </a:t>
            </a:r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177934" y="1238597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28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A 4 )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Was versteht man unter Zweckaufwand oder Grundkosten ?</a:t>
            </a:r>
          </a:p>
          <a:p>
            <a:endParaRPr lang="de-DE" dirty="0"/>
          </a:p>
          <a:p>
            <a:r>
              <a:rPr lang="de-DE" dirty="0"/>
              <a:t>Nennen Sie Beispiele für neutrale Aufwendungen und Erträge</a:t>
            </a:r>
          </a:p>
          <a:p>
            <a:endParaRPr lang="de-DE" dirty="0"/>
          </a:p>
          <a:p>
            <a:r>
              <a:rPr lang="de-DE" dirty="0"/>
              <a:t>Was sind Zusatzkosten und wo treten sie auf ?</a:t>
            </a:r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672578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047" y="1105594"/>
            <a:ext cx="8520546" cy="479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5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0" y="864524"/>
            <a:ext cx="7955280" cy="508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84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38843"/>
            <a:ext cx="82545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Beispiele in einer Bäckerei</a:t>
            </a:r>
          </a:p>
          <a:p>
            <a:endParaRPr lang="de-DE" dirty="0"/>
          </a:p>
          <a:p>
            <a:r>
              <a:rPr lang="de-DE" dirty="0"/>
              <a:t>Einkauf von Mehl, Zucker, Hefe</a:t>
            </a:r>
          </a:p>
          <a:p>
            <a:r>
              <a:rPr lang="de-DE" dirty="0"/>
              <a:t>Personalkosten				Zweckaufwand = Grundkosten</a:t>
            </a:r>
          </a:p>
          <a:p>
            <a:endParaRPr lang="de-DE" dirty="0"/>
          </a:p>
          <a:p>
            <a:r>
              <a:rPr lang="de-DE" dirty="0"/>
              <a:t>Gewinn aus Aktienverkauf			neutraler Ertrag</a:t>
            </a:r>
          </a:p>
          <a:p>
            <a:endParaRPr lang="de-DE" dirty="0"/>
          </a:p>
          <a:p>
            <a:r>
              <a:rPr lang="de-DE" dirty="0"/>
              <a:t>Spende an OAI				neutraler Aufwand</a:t>
            </a:r>
          </a:p>
          <a:p>
            <a:endParaRPr lang="de-DE" dirty="0"/>
          </a:p>
          <a:p>
            <a:r>
              <a:rPr lang="de-DE" dirty="0"/>
              <a:t>kalkulatorischer Unternehmerlohn</a:t>
            </a:r>
          </a:p>
          <a:p>
            <a:r>
              <a:rPr lang="de-DE" dirty="0"/>
              <a:t>für tätigen Inhaber</a:t>
            </a:r>
          </a:p>
          <a:p>
            <a:r>
              <a:rPr lang="de-DE" dirty="0"/>
              <a:t>kalkulatorische Zinsen auf Eigenkapital		Zusatzkosten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796656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A 6 )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Aus welchen Bestandteilen werden ermittelt</a:t>
            </a:r>
          </a:p>
          <a:p>
            <a:endParaRPr lang="de-DE" dirty="0"/>
          </a:p>
          <a:p>
            <a:r>
              <a:rPr lang="de-DE" dirty="0"/>
              <a:t>und wie nennt man die Erfolgsgrößen</a:t>
            </a:r>
          </a:p>
          <a:p>
            <a:endParaRPr lang="de-DE" dirty="0"/>
          </a:p>
          <a:p>
            <a:r>
              <a:rPr lang="de-DE" dirty="0"/>
              <a:t>in der Handelsbilanz und in der Kostenrechnung ?</a:t>
            </a:r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76656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3158837" y="1330036"/>
            <a:ext cx="77807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Jahresabschluss nach Handelsrecht</a:t>
            </a:r>
          </a:p>
          <a:p>
            <a:endParaRPr lang="de-DE" dirty="0"/>
          </a:p>
          <a:p>
            <a:r>
              <a:rPr lang="de-DE" dirty="0"/>
              <a:t>Gesamtertrag minus Gesamtaufwand</a:t>
            </a:r>
          </a:p>
          <a:p>
            <a:r>
              <a:rPr lang="de-DE" dirty="0"/>
              <a:t>= Bilanzgewinn oder –</a:t>
            </a:r>
            <a:r>
              <a:rPr lang="de-DE" dirty="0" err="1"/>
              <a:t>verlust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Kosten- und Leistungsrechnung</a:t>
            </a:r>
          </a:p>
          <a:p>
            <a:endParaRPr lang="de-DE" dirty="0"/>
          </a:p>
          <a:p>
            <a:r>
              <a:rPr lang="de-DE" dirty="0"/>
              <a:t>Leistungen minus Kosten</a:t>
            </a:r>
          </a:p>
          <a:p>
            <a:r>
              <a:rPr lang="de-DE" dirty="0"/>
              <a:t>= Betriebsergebnis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330478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B 2 )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Was versteht man unter Preissteigerungs- oder Scheingewinnen ?</a:t>
            </a:r>
          </a:p>
          <a:p>
            <a:endParaRPr lang="de-DE" dirty="0"/>
          </a:p>
          <a:p>
            <a:r>
              <a:rPr lang="de-DE" dirty="0"/>
              <a:t>Wann treten diese auf ?</a:t>
            </a:r>
          </a:p>
          <a:p>
            <a:endParaRPr lang="de-DE" dirty="0"/>
          </a:p>
          <a:p>
            <a:r>
              <a:rPr lang="de-DE" dirty="0"/>
              <a:t>Bilden Sie ein Beispiel</a:t>
            </a:r>
          </a:p>
          <a:p>
            <a:endParaRPr lang="de-DE" dirty="0"/>
          </a:p>
          <a:p>
            <a:r>
              <a:rPr lang="de-DE" dirty="0"/>
              <a:t>Erläutern Sie die Begriffe der nominalen und realen Kapitalerhaltung   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1678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985763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Anschaffungswertprinzip oder </a:t>
            </a:r>
            <a:r>
              <a:rPr lang="de-DE" dirty="0" err="1"/>
              <a:t>Pagatorik</a:t>
            </a:r>
            <a:r>
              <a:rPr lang="de-DE" dirty="0"/>
              <a:t>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</a:t>
            </a:r>
          </a:p>
          <a:p>
            <a:r>
              <a:rPr lang="de-DE" dirty="0"/>
              <a:t>	Prinzip der nominalen Kapitalerhaltung		1 Euro = 1 Euro 			</a:t>
            </a:r>
          </a:p>
          <a:p>
            <a:r>
              <a:rPr lang="de-DE" dirty="0"/>
              <a:t>	deutsches Handelsrecht 			heute und auch künftig</a:t>
            </a:r>
          </a:p>
          <a:p>
            <a:endParaRPr lang="de-DE" dirty="0"/>
          </a:p>
          <a:p>
            <a:r>
              <a:rPr lang="de-DE" dirty="0"/>
              <a:t>	Daten basieren auf Zahlungsgrößen		</a:t>
            </a:r>
            <a:r>
              <a:rPr lang="de-DE" dirty="0" err="1"/>
              <a:t>pagare</a:t>
            </a:r>
            <a:r>
              <a:rPr lang="de-DE" dirty="0"/>
              <a:t> ( lat. ) = bezahlen</a:t>
            </a:r>
          </a:p>
          <a:p>
            <a:endParaRPr lang="de-DE" dirty="0"/>
          </a:p>
          <a:p>
            <a:r>
              <a:rPr lang="de-DE" dirty="0"/>
              <a:t>	</a:t>
            </a:r>
          </a:p>
          <a:p>
            <a:r>
              <a:rPr lang="de-DE" dirty="0"/>
              <a:t>	dagegen reale Kapitalerhaltung		Kaufkraft erhalten</a:t>
            </a:r>
          </a:p>
          <a:p>
            <a:r>
              <a:rPr lang="de-DE" dirty="0"/>
              <a:t>						Preissteigerungsindex für Inflation</a:t>
            </a:r>
          </a:p>
          <a:p>
            <a:r>
              <a:rPr lang="de-DE" dirty="0"/>
              <a:t>						Bewertung mit meist höheren </a:t>
            </a:r>
            <a:br>
              <a:rPr lang="de-DE" dirty="0"/>
            </a:br>
            <a:r>
              <a:rPr lang="de-DE" dirty="0"/>
              <a:t>						aktuellen Wiederbeschaffungskosten</a:t>
            </a:r>
          </a:p>
          <a:p>
            <a:endParaRPr lang="de-DE" dirty="0"/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487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0" y="1244599"/>
            <a:ext cx="8458200" cy="458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77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B 3 )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Welche einzelnen Bewertungsprinzipien </a:t>
            </a:r>
          </a:p>
          <a:p>
            <a:r>
              <a:rPr lang="de-DE" dirty="0"/>
              <a:t>lassen sich aus dem Grundprinzip der </a:t>
            </a:r>
            <a:br>
              <a:rPr lang="de-DE" dirty="0"/>
            </a:br>
            <a:r>
              <a:rPr lang="de-DE" dirty="0"/>
              <a:t>kaufmännischen Vorsicht ableiten ?</a:t>
            </a:r>
          </a:p>
          <a:p>
            <a:endParaRPr lang="de-DE" dirty="0"/>
          </a:p>
          <a:p>
            <a:r>
              <a:rPr lang="de-DE" dirty="0"/>
              <a:t>Warum werden erzielte Gewinne </a:t>
            </a:r>
          </a:p>
          <a:p>
            <a:r>
              <a:rPr lang="de-DE" dirty="0"/>
              <a:t>und eingetretene Verluste ungleich behandelt ?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4687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13907" y="1579418"/>
            <a:ext cx="101581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                                             Periodisierung und kaufmännische Vorsicht 		 </a:t>
            </a:r>
          </a:p>
          <a:p>
            <a:r>
              <a:rPr lang="de-DE" dirty="0"/>
              <a:t>   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Realisationsprinzip		Imparitätsprinzip		Stichtagsprinzip </a:t>
            </a:r>
          </a:p>
          <a:p>
            <a:endParaRPr lang="de-DE" dirty="0"/>
          </a:p>
          <a:p>
            <a:r>
              <a:rPr lang="de-DE" dirty="0"/>
              <a:t>	Gewinne			Verluste			wertbegründende und</a:t>
            </a:r>
          </a:p>
          <a:p>
            <a:r>
              <a:rPr lang="de-DE" dirty="0"/>
              <a:t>							wertaufhellende Tatsachen</a:t>
            </a:r>
          </a:p>
          <a:p>
            <a:r>
              <a:rPr lang="de-DE" dirty="0"/>
              <a:t>		</a:t>
            </a:r>
            <a:r>
              <a:rPr lang="de-DE" dirty="0">
                <a:sym typeface="Wingdings" panose="05000000000000000000" pitchFamily="2" charset="2"/>
              </a:rPr>
              <a:t> Niederstwertprinzip Aktiva</a:t>
            </a:r>
          </a:p>
          <a:p>
            <a:r>
              <a:rPr lang="de-DE" dirty="0">
                <a:sym typeface="Wingdings" panose="05000000000000000000" pitchFamily="2" charset="2"/>
              </a:rPr>
              <a:t>		 Höchstwertprinzip Passiva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>
            <a:off x="3117274" y="2622662"/>
            <a:ext cx="54032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/>
          <p:cNvCxnSpPr/>
          <p:nvPr/>
        </p:nvCxnSpPr>
        <p:spPr>
          <a:xfrm>
            <a:off x="5760721" y="2236117"/>
            <a:ext cx="8312" cy="374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/>
          <p:cNvCxnSpPr/>
          <p:nvPr/>
        </p:nvCxnSpPr>
        <p:spPr>
          <a:xfrm>
            <a:off x="5769033" y="2589309"/>
            <a:ext cx="0" cy="69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/>
          <p:nvPr/>
        </p:nvCxnSpPr>
        <p:spPr>
          <a:xfrm>
            <a:off x="3117274" y="2622662"/>
            <a:ext cx="8313" cy="69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8495607" y="2597726"/>
            <a:ext cx="24938" cy="706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13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931242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         Realisationsprinzip                                                                           </a:t>
            </a:r>
          </a:p>
          <a:p>
            <a:r>
              <a:rPr lang="de-DE" dirty="0"/>
              <a:t>            </a:t>
            </a:r>
          </a:p>
          <a:p>
            <a:endParaRPr lang="de-DE" dirty="0"/>
          </a:p>
          <a:p>
            <a:r>
              <a:rPr lang="de-DE" dirty="0"/>
              <a:t>	</a:t>
            </a:r>
          </a:p>
          <a:p>
            <a:r>
              <a:rPr lang="de-DE" dirty="0"/>
              <a:t>		Gewinne ( und auch Verluste ) </a:t>
            </a:r>
          </a:p>
          <a:p>
            <a:endParaRPr lang="de-DE" dirty="0"/>
          </a:p>
          <a:p>
            <a:r>
              <a:rPr lang="de-DE" dirty="0"/>
              <a:t>		dürfen erst ausgewiesen werden, wenn sie</a:t>
            </a:r>
          </a:p>
          <a:p>
            <a:endParaRPr lang="de-DE" dirty="0"/>
          </a:p>
          <a:p>
            <a:r>
              <a:rPr lang="de-DE" dirty="0"/>
              <a:t>		durch Umsatzprozess tatsächlich realisiert worden sind.</a:t>
            </a:r>
          </a:p>
          <a:p>
            <a:endParaRPr lang="de-DE" dirty="0"/>
          </a:p>
          <a:p>
            <a:r>
              <a:rPr lang="de-DE" dirty="0"/>
              <a:t>	</a:t>
            </a:r>
          </a:p>
          <a:p>
            <a:r>
              <a:rPr lang="de-DE" dirty="0"/>
              <a:t>	auf der Aktivseite keine Bewertung der Vermögensgegenstände </a:t>
            </a:r>
          </a:p>
          <a:p>
            <a:r>
              <a:rPr lang="de-DE" dirty="0"/>
              <a:t>	über die ursprünglichen Anschaffungskosten hinaus</a:t>
            </a:r>
          </a:p>
          <a:p>
            <a:endParaRPr lang="de-DE" dirty="0"/>
          </a:p>
          <a:p>
            <a:r>
              <a:rPr lang="de-DE" dirty="0"/>
              <a:t>	auf der Passivseite keine Bewertung der Schulden </a:t>
            </a:r>
          </a:p>
          <a:p>
            <a:r>
              <a:rPr lang="de-DE" dirty="0"/>
              <a:t>	unter die ursprünglichen Anschaffungskosten herab</a:t>
            </a:r>
          </a:p>
          <a:p>
            <a:r>
              <a:rPr lang="de-DE" dirty="0"/>
              <a:t>	(  Verbindlichkeiten in fremder Währung und Kursänderung ) </a:t>
            </a:r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667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920784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             Imparitätsprinzip                                                                            </a:t>
            </a:r>
          </a:p>
          <a:p>
            <a:r>
              <a:rPr lang="de-DE" dirty="0"/>
              <a:t>            </a:t>
            </a:r>
          </a:p>
          <a:p>
            <a:endParaRPr lang="de-DE" dirty="0"/>
          </a:p>
          <a:p>
            <a:r>
              <a:rPr lang="de-DE" dirty="0"/>
              <a:t>	</a:t>
            </a:r>
          </a:p>
          <a:p>
            <a:r>
              <a:rPr lang="de-DE" dirty="0"/>
              <a:t>		( drohende ) Verluste müssen bereits ausgewiesen werden  </a:t>
            </a:r>
          </a:p>
          <a:p>
            <a:endParaRPr lang="de-DE" dirty="0"/>
          </a:p>
          <a:p>
            <a:r>
              <a:rPr lang="de-DE" dirty="0"/>
              <a:t>		auch wenn sie noch nicht realisiert worden sind. </a:t>
            </a:r>
          </a:p>
          <a:p>
            <a:endParaRPr lang="de-DE" dirty="0"/>
          </a:p>
          <a:p>
            <a:r>
              <a:rPr lang="de-DE" dirty="0"/>
              <a:t>	</a:t>
            </a:r>
          </a:p>
          <a:p>
            <a:r>
              <a:rPr lang="de-DE" dirty="0"/>
              <a:t>	 </a:t>
            </a:r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022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937570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            Niederstwertprinzip                                                                           </a:t>
            </a:r>
          </a:p>
          <a:p>
            <a:r>
              <a:rPr lang="de-DE" dirty="0"/>
              <a:t>            </a:t>
            </a:r>
          </a:p>
          <a:p>
            <a:endParaRPr lang="de-DE" dirty="0"/>
          </a:p>
          <a:p>
            <a:r>
              <a:rPr lang="de-DE" dirty="0"/>
              <a:t>	</a:t>
            </a:r>
          </a:p>
          <a:p>
            <a:r>
              <a:rPr lang="de-DE" dirty="0"/>
              <a:t>		von mehreren möglichen Werten </a:t>
            </a:r>
          </a:p>
          <a:p>
            <a:endParaRPr lang="de-DE" dirty="0"/>
          </a:p>
          <a:p>
            <a:r>
              <a:rPr lang="de-DE" dirty="0"/>
              <a:t>		ist auf der Aktivseite stets der niedrigste anzusetzen   </a:t>
            </a:r>
          </a:p>
          <a:p>
            <a:endParaRPr lang="de-DE" dirty="0"/>
          </a:p>
          <a:p>
            <a:r>
              <a:rPr lang="de-DE" dirty="0"/>
              <a:t>		</a:t>
            </a:r>
          </a:p>
          <a:p>
            <a:r>
              <a:rPr lang="de-DE" dirty="0"/>
              <a:t>		beim Umlaufvermögen	strenges NWP	„muss“</a:t>
            </a:r>
          </a:p>
          <a:p>
            <a:endParaRPr lang="de-DE" dirty="0"/>
          </a:p>
          <a:p>
            <a:r>
              <a:rPr lang="de-DE" dirty="0"/>
              <a:t>		beim Anlagevermögen	gemildertes NWP	„kann“</a:t>
            </a:r>
          </a:p>
          <a:p>
            <a:r>
              <a:rPr lang="de-DE" dirty="0"/>
              <a:t>							„muss“ nur bei dauerhafter</a:t>
            </a:r>
          </a:p>
          <a:p>
            <a:r>
              <a:rPr lang="de-DE" dirty="0"/>
              <a:t>							  Wertminderung 	</a:t>
            </a:r>
          </a:p>
          <a:p>
            <a:r>
              <a:rPr lang="de-DE" dirty="0"/>
              <a:t>	Beispiel S. 9 </a:t>
            </a:r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726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938930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           Höchstwertprinzip                                                                             </a:t>
            </a:r>
          </a:p>
          <a:p>
            <a:r>
              <a:rPr lang="de-DE" dirty="0"/>
              <a:t>            </a:t>
            </a:r>
          </a:p>
          <a:p>
            <a:endParaRPr lang="de-DE" dirty="0"/>
          </a:p>
          <a:p>
            <a:r>
              <a:rPr lang="de-DE" dirty="0"/>
              <a:t>	</a:t>
            </a:r>
          </a:p>
          <a:p>
            <a:r>
              <a:rPr lang="de-DE" dirty="0"/>
              <a:t>		von mehreren möglichen Werten </a:t>
            </a:r>
          </a:p>
          <a:p>
            <a:endParaRPr lang="de-DE" dirty="0"/>
          </a:p>
          <a:p>
            <a:r>
              <a:rPr lang="de-DE" dirty="0"/>
              <a:t>		ist auf der Passivseite stets der höchste anzusetzen </a:t>
            </a:r>
          </a:p>
          <a:p>
            <a:endParaRPr lang="de-DE" dirty="0"/>
          </a:p>
          <a:p>
            <a:r>
              <a:rPr lang="de-DE" dirty="0"/>
              <a:t>		beispielsweise bei Verbindlichkeiten </a:t>
            </a:r>
          </a:p>
          <a:p>
            <a:r>
              <a:rPr lang="de-DE" dirty="0"/>
              <a:t>		in fremder Währung bei Kursschwankungen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Beispiel S. 9</a:t>
            </a:r>
          </a:p>
          <a:p>
            <a:endParaRPr lang="de-DE" dirty="0"/>
          </a:p>
          <a:p>
            <a:r>
              <a:rPr lang="de-DE" dirty="0"/>
              <a:t>	 </a:t>
            </a:r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16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B 10 )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Bewertung nach</a:t>
            </a:r>
          </a:p>
          <a:p>
            <a:endParaRPr lang="de-DE" dirty="0"/>
          </a:p>
          <a:p>
            <a:r>
              <a:rPr lang="de-DE" dirty="0"/>
              <a:t>---   Durchschnittswerten</a:t>
            </a:r>
          </a:p>
          <a:p>
            <a:endParaRPr lang="de-DE" dirty="0"/>
          </a:p>
          <a:p>
            <a:r>
              <a:rPr lang="de-DE" dirty="0"/>
              <a:t>---   Zeitverfahren </a:t>
            </a:r>
            <a:r>
              <a:rPr lang="de-DE" dirty="0" err="1"/>
              <a:t>lifo</a:t>
            </a:r>
            <a:r>
              <a:rPr lang="de-DE" dirty="0"/>
              <a:t> und </a:t>
            </a:r>
            <a:r>
              <a:rPr lang="de-DE" dirty="0" err="1"/>
              <a:t>fifo</a:t>
            </a:r>
            <a:endParaRPr lang="de-DE" dirty="0"/>
          </a:p>
          <a:p>
            <a:endParaRPr lang="de-DE" dirty="0"/>
          </a:p>
          <a:p>
            <a:r>
              <a:rPr lang="de-DE" dirty="0"/>
              <a:t>---   Preisverfahren </a:t>
            </a:r>
            <a:r>
              <a:rPr lang="de-DE" dirty="0" err="1"/>
              <a:t>hifo</a:t>
            </a:r>
            <a:r>
              <a:rPr lang="de-DE" dirty="0"/>
              <a:t> und </a:t>
            </a:r>
            <a:r>
              <a:rPr lang="de-DE" dirty="0" err="1"/>
              <a:t>lofo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Aufgabe bereits in der Veranstaltung </a:t>
            </a:r>
          </a:p>
          <a:p>
            <a:r>
              <a:rPr lang="de-DE" dirty="0"/>
              <a:t>besprochen und erläutert 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3724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C 1 )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In welche Größenklassen teilt das Handelsrecht</a:t>
            </a:r>
          </a:p>
          <a:p>
            <a:r>
              <a:rPr lang="de-DE" dirty="0"/>
              <a:t>die Kapitalgesellschaften ein ?</a:t>
            </a:r>
          </a:p>
          <a:p>
            <a:endParaRPr lang="de-DE" dirty="0"/>
          </a:p>
          <a:p>
            <a:r>
              <a:rPr lang="de-DE" dirty="0"/>
              <a:t>Welche Kriterien werden hierfür herangezogen ?</a:t>
            </a:r>
          </a:p>
          <a:p>
            <a:endParaRPr lang="de-DE" dirty="0"/>
          </a:p>
          <a:p>
            <a:r>
              <a:rPr lang="de-DE" dirty="0"/>
              <a:t>Nennen Sie einige Auswirkungen dieser Einstufungen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960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727268" y="1446414"/>
            <a:ext cx="7341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Größenklassen bei Kapitalgesellschaften ( &amp; Co )                              </a:t>
            </a:r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3275908" y="1978431"/>
            <a:ext cx="5660967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687" y="2310940"/>
            <a:ext cx="6895408" cy="3092335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2870663" y="5526180"/>
            <a:ext cx="3559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Erleichterungen mit „kann-Option“  </a:t>
            </a:r>
          </a:p>
        </p:txBody>
      </p:sp>
      <p:cxnSp>
        <p:nvCxnSpPr>
          <p:cNvPr id="7" name="Gerader Verbinder 6"/>
          <p:cNvCxnSpPr/>
          <p:nvPr/>
        </p:nvCxnSpPr>
        <p:spPr>
          <a:xfrm flipH="1">
            <a:off x="2434244" y="5710846"/>
            <a:ext cx="293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 flipV="1">
            <a:off x="2434244" y="3233653"/>
            <a:ext cx="0" cy="2477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588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727268" y="1446416"/>
            <a:ext cx="679705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Erleichterungen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längere Aufstellungsfrist für den Jahresabschluss</a:t>
            </a:r>
          </a:p>
          <a:p>
            <a:endParaRPr lang="de-DE" dirty="0"/>
          </a:p>
          <a:p>
            <a:r>
              <a:rPr lang="de-DE" dirty="0"/>
              <a:t>	geringere Tiefe der Gliederung von Bilanz und GuV-Rechnung</a:t>
            </a:r>
          </a:p>
          <a:p>
            <a:endParaRPr lang="de-DE" dirty="0"/>
          </a:p>
          <a:p>
            <a:r>
              <a:rPr lang="de-DE" dirty="0"/>
              <a:t>	eingeschränkter Umfang der Angaben im Anhang</a:t>
            </a:r>
          </a:p>
          <a:p>
            <a:endParaRPr lang="de-DE" dirty="0"/>
          </a:p>
          <a:p>
            <a:r>
              <a:rPr lang="de-DE" dirty="0"/>
              <a:t>	Hinterlegung statt Offenlegung des Jahresabschlusses</a:t>
            </a:r>
          </a:p>
          <a:p>
            <a:endParaRPr lang="de-DE" dirty="0"/>
          </a:p>
          <a:p>
            <a:r>
              <a:rPr lang="de-DE" dirty="0"/>
              <a:t>	keine Pflicht zur Prüfung durch Wirtschaftsprüfer</a:t>
            </a:r>
          </a:p>
          <a:p>
            <a:endParaRPr lang="de-DE" dirty="0"/>
          </a:p>
          <a:p>
            <a:r>
              <a:rPr lang="de-DE" dirty="0"/>
              <a:t>	</a:t>
            </a:r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3082638" y="1995055"/>
            <a:ext cx="5660967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562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C 4 )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Wer muss seine Jahresabschlüsse veröffentlichen ?</a:t>
            </a:r>
          </a:p>
          <a:p>
            <a:endParaRPr lang="de-DE" dirty="0"/>
          </a:p>
          <a:p>
            <a:r>
              <a:rPr lang="de-DE" dirty="0"/>
              <a:t>Wie und wo werden die Zahlen hinterlegt ?</a:t>
            </a:r>
          </a:p>
          <a:p>
            <a:endParaRPr lang="de-DE" dirty="0"/>
          </a:p>
          <a:p>
            <a:r>
              <a:rPr lang="de-DE" dirty="0"/>
              <a:t>Welche Erleichterungen gibt es und</a:t>
            </a:r>
          </a:p>
          <a:p>
            <a:r>
              <a:rPr lang="de-DE" dirty="0"/>
              <a:t>wer darf sie in Anspruch nehmen ?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6502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07568" y="908721"/>
            <a:ext cx="777199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Veröffentlichung     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Personenunternehmen nur bei PublG</a:t>
            </a:r>
          </a:p>
          <a:p>
            <a:endParaRPr lang="de-DE" dirty="0"/>
          </a:p>
          <a:p>
            <a:r>
              <a:rPr lang="de-DE" dirty="0"/>
              <a:t>	Kapitalgesellschaften ( &amp; Co ) zwingend gesetzlich</a:t>
            </a:r>
          </a:p>
          <a:p>
            <a:endParaRPr lang="de-DE" dirty="0"/>
          </a:p>
          <a:p>
            <a:r>
              <a:rPr lang="de-DE" dirty="0"/>
              <a:t>		größenabhängige Erleichterungen </a:t>
            </a:r>
          </a:p>
          <a:p>
            <a:r>
              <a:rPr lang="de-DE" dirty="0"/>
              <a:t>		Veröffentlichung / Hinterlegung</a:t>
            </a:r>
          </a:p>
          <a:p>
            <a:r>
              <a:rPr lang="de-DE" dirty="0"/>
              <a:t>		</a:t>
            </a:r>
            <a:r>
              <a:rPr lang="de-DE" dirty="0">
                <a:hlinkClick r:id="rId2"/>
              </a:rPr>
              <a:t>www.unternehmensregister.de</a:t>
            </a:r>
            <a:endParaRPr lang="de-DE" dirty="0"/>
          </a:p>
          <a:p>
            <a:r>
              <a:rPr lang="de-DE" dirty="0"/>
              <a:t>		Ordnungsgelder bei Nichtveröffentlichung</a:t>
            </a:r>
          </a:p>
          <a:p>
            <a:r>
              <a:rPr lang="de-DE" dirty="0"/>
              <a:t>		500 Euro bis 25.000 Euro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3082637" y="1484784"/>
            <a:ext cx="5660967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031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D 3 )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Was versteht man unter einem Geschäfts- oder Firmenwert ?</a:t>
            </a:r>
          </a:p>
          <a:p>
            <a:endParaRPr lang="de-DE" dirty="0"/>
          </a:p>
          <a:p>
            <a:r>
              <a:rPr lang="de-DE" dirty="0"/>
              <a:t>Was unterscheidet einen selbst geschaffenen </a:t>
            </a:r>
          </a:p>
          <a:p>
            <a:r>
              <a:rPr lang="de-DE" dirty="0"/>
              <a:t>von einem entgeltlich erworbenen Firmenwert</a:t>
            </a:r>
          </a:p>
          <a:p>
            <a:r>
              <a:rPr lang="de-DE" dirty="0"/>
              <a:t>hinsichtlich ihrer Bilanzierung ?</a:t>
            </a:r>
          </a:p>
          <a:p>
            <a:endParaRPr lang="de-DE" dirty="0"/>
          </a:p>
          <a:p>
            <a:r>
              <a:rPr lang="de-DE" dirty="0"/>
              <a:t>Bilden Sie ein Beispiel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6420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963577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Geschäfts- oder Firmenwert                                                                                               </a:t>
            </a:r>
          </a:p>
          <a:p>
            <a:endParaRPr lang="de-DE" dirty="0"/>
          </a:p>
          <a:p>
            <a:r>
              <a:rPr lang="de-DE" dirty="0"/>
              <a:t>		</a:t>
            </a:r>
          </a:p>
          <a:p>
            <a:r>
              <a:rPr lang="de-DE" dirty="0"/>
              <a:t>		</a:t>
            </a:r>
          </a:p>
          <a:p>
            <a:r>
              <a:rPr lang="de-DE" dirty="0"/>
              <a:t>		was ein ( fiktiver ) Erwerber des gesamten Betriebes</a:t>
            </a:r>
          </a:p>
          <a:p>
            <a:endParaRPr lang="de-DE" dirty="0"/>
          </a:p>
          <a:p>
            <a:r>
              <a:rPr lang="de-DE" dirty="0"/>
              <a:t>		über die bewertbaren Vermögensgegenstände</a:t>
            </a:r>
          </a:p>
          <a:p>
            <a:endParaRPr lang="de-DE" dirty="0"/>
          </a:p>
          <a:p>
            <a:r>
              <a:rPr lang="de-DE" dirty="0"/>
              <a:t>		abzüglich der Schulden ( = Eigenkapital )</a:t>
            </a:r>
          </a:p>
          <a:p>
            <a:endParaRPr lang="de-DE" dirty="0"/>
          </a:p>
          <a:p>
            <a:r>
              <a:rPr lang="de-DE" dirty="0"/>
              <a:t>		hinaus bezahlen würde.</a:t>
            </a:r>
          </a:p>
          <a:p>
            <a:endParaRPr lang="de-DE" dirty="0"/>
          </a:p>
          <a:p>
            <a:r>
              <a:rPr lang="de-DE" dirty="0"/>
              <a:t>		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793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963577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Geschäfts- oder Firmenwert                                                                                               </a:t>
            </a:r>
          </a:p>
          <a:p>
            <a:endParaRPr lang="de-DE" dirty="0"/>
          </a:p>
          <a:p>
            <a:r>
              <a:rPr lang="de-DE" dirty="0"/>
              <a:t>		</a:t>
            </a:r>
          </a:p>
          <a:p>
            <a:r>
              <a:rPr lang="de-DE" dirty="0"/>
              <a:t>		</a:t>
            </a:r>
          </a:p>
          <a:p>
            <a:r>
              <a:rPr lang="de-DE" dirty="0"/>
              <a:t>		selbst geschaffen		Aktivierungsverbot</a:t>
            </a:r>
          </a:p>
          <a:p>
            <a:endParaRPr lang="de-DE" dirty="0"/>
          </a:p>
          <a:p>
            <a:r>
              <a:rPr lang="de-DE" dirty="0"/>
              <a:t>		käuflich erworben		Aktivierungspflicht und Abschreibung</a:t>
            </a:r>
          </a:p>
          <a:p>
            <a:r>
              <a:rPr lang="de-DE" dirty="0"/>
              <a:t>					Handelsrecht 5 Jahre</a:t>
            </a:r>
          </a:p>
          <a:p>
            <a:r>
              <a:rPr lang="de-DE" dirty="0"/>
              <a:t>					Steuerrecht 15 Jahre</a:t>
            </a:r>
          </a:p>
          <a:p>
            <a:endParaRPr lang="de-DE" dirty="0"/>
          </a:p>
          <a:p>
            <a:r>
              <a:rPr lang="de-DE" dirty="0"/>
              <a:t>		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792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/>
          <p:cNvGraphicFramePr>
            <a:graphicFrameLocks noGrp="1"/>
          </p:cNvGraphicFramePr>
          <p:nvPr/>
        </p:nvGraphicFramePr>
        <p:xfrm>
          <a:off x="1388226" y="1409622"/>
          <a:ext cx="9368442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2814">
                  <a:extLst>
                    <a:ext uri="{9D8B030D-6E8A-4147-A177-3AD203B41FA5}">
                      <a16:colId xmlns:a16="http://schemas.microsoft.com/office/drawing/2014/main" val="3906205852"/>
                    </a:ext>
                  </a:extLst>
                </a:gridCol>
                <a:gridCol w="3122814">
                  <a:extLst>
                    <a:ext uri="{9D8B030D-6E8A-4147-A177-3AD203B41FA5}">
                      <a16:colId xmlns:a16="http://schemas.microsoft.com/office/drawing/2014/main" val="1507360229"/>
                    </a:ext>
                  </a:extLst>
                </a:gridCol>
                <a:gridCol w="3122814">
                  <a:extLst>
                    <a:ext uri="{9D8B030D-6E8A-4147-A177-3AD203B41FA5}">
                      <a16:colId xmlns:a16="http://schemas.microsoft.com/office/drawing/2014/main" val="3234486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Kiosk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Rheinufer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34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geöffnet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5:00 bis 22:00 Uhr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geschlossen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45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Umsatz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 </a:t>
                      </a:r>
                      <a:r>
                        <a:rPr lang="de-DE" dirty="0" err="1"/>
                        <a:t>Mio</a:t>
                      </a:r>
                      <a:r>
                        <a:rPr lang="de-DE" dirty="0"/>
                        <a:t> Euro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15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Gewinn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200.000 Euro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747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Einrichtung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50.000 Euro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50.000 Euro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07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808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Kaufpreis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250.000 Euro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50.000 Euro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182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Aufteilung</a:t>
                      </a:r>
                    </a:p>
                    <a:p>
                      <a:r>
                        <a:rPr lang="de-DE" dirty="0"/>
                        <a:t>50.000 Euro Einrichtung</a:t>
                      </a:r>
                    </a:p>
                    <a:p>
                      <a:r>
                        <a:rPr lang="de-DE" dirty="0"/>
                        <a:t>200.000 Euro Firmenwert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nur Einrichtung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049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128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D 10 )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Was ist ein Brutto-Anlagespiegel </a:t>
            </a:r>
          </a:p>
          <a:p>
            <a:r>
              <a:rPr lang="de-DE" dirty="0"/>
              <a:t>und welche Positionen umfasst er ?</a:t>
            </a:r>
          </a:p>
          <a:p>
            <a:endParaRPr lang="de-DE" dirty="0"/>
          </a:p>
          <a:p>
            <a:r>
              <a:rPr lang="de-DE" dirty="0"/>
              <a:t>Welche Unternehmen sind zur Aufstellung eines </a:t>
            </a:r>
          </a:p>
          <a:p>
            <a:r>
              <a:rPr lang="de-DE" dirty="0"/>
              <a:t>solchen Anlagespiegels verpflichtet ?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0366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87952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             Brutto – Anlagespiegel   </a:t>
            </a:r>
          </a:p>
          <a:p>
            <a:r>
              <a:rPr lang="de-DE" dirty="0"/>
              <a:t>		Pflicht für mittelgroße und große Kapitalgesellschaften ( &amp; Co )                 </a:t>
            </a:r>
          </a:p>
          <a:p>
            <a:endParaRPr lang="de-DE" dirty="0"/>
          </a:p>
          <a:p>
            <a:r>
              <a:rPr lang="de-DE" dirty="0"/>
              <a:t>		                                                               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1968115" y="2215188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222" y="2335876"/>
            <a:ext cx="8545483" cy="377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883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D 12 )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Wie sind die Anschaffungskosten eines </a:t>
            </a:r>
          </a:p>
          <a:p>
            <a:r>
              <a:rPr lang="de-DE" dirty="0"/>
              <a:t>Vermögensgegenstandes definiert</a:t>
            </a:r>
          </a:p>
          <a:p>
            <a:endParaRPr lang="de-DE" dirty="0"/>
          </a:p>
          <a:p>
            <a:r>
              <a:rPr lang="de-DE" dirty="0"/>
              <a:t>und nach welchem Schema erfolgt ihre Berechnung ?</a:t>
            </a:r>
          </a:p>
          <a:p>
            <a:endParaRPr lang="de-DE" dirty="0"/>
          </a:p>
          <a:p>
            <a:r>
              <a:rPr lang="de-DE" dirty="0"/>
              <a:t>Was versteht man unter den </a:t>
            </a:r>
          </a:p>
          <a:p>
            <a:r>
              <a:rPr lang="de-DE" dirty="0"/>
              <a:t>fortgeführten Anschaffungskosten ?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9778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920322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Anschaffungskosten                                 § 255 Abs. 1 HGB                      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„Aufwendungen</a:t>
            </a:r>
          </a:p>
          <a:p>
            <a:endParaRPr lang="de-DE" dirty="0"/>
          </a:p>
          <a:p>
            <a:r>
              <a:rPr lang="de-DE" dirty="0"/>
              <a:t>		um einen Vermögensgegenstand zu erwerben</a:t>
            </a:r>
          </a:p>
          <a:p>
            <a:endParaRPr lang="de-DE" dirty="0"/>
          </a:p>
          <a:p>
            <a:r>
              <a:rPr lang="de-DE" dirty="0"/>
              <a:t>		und ihn in einen betriebsbereiten Zustand zu versetzen</a:t>
            </a:r>
          </a:p>
          <a:p>
            <a:endParaRPr lang="de-DE" dirty="0"/>
          </a:p>
          <a:p>
            <a:r>
              <a:rPr lang="de-DE" dirty="0"/>
              <a:t>		soweit sie dem Vermögensgegenstand einzeln zugeordnet werden können“</a:t>
            </a:r>
          </a:p>
          <a:p>
            <a:r>
              <a:rPr lang="de-DE" dirty="0"/>
              <a:t>		</a:t>
            </a:r>
          </a:p>
          <a:p>
            <a:r>
              <a:rPr lang="de-DE" dirty="0"/>
              <a:t>	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251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579418" y="1039090"/>
            <a:ext cx="752302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</a:t>
            </a:r>
          </a:p>
          <a:p>
            <a:r>
              <a:rPr lang="de-DE" dirty="0"/>
              <a:t>		+	Anschaffungspreis                                                      </a:t>
            </a:r>
          </a:p>
          <a:p>
            <a:endParaRPr lang="de-DE" dirty="0"/>
          </a:p>
          <a:p>
            <a:r>
              <a:rPr lang="de-DE" dirty="0"/>
              <a:t>		+	Anschaffungsnebenkosten</a:t>
            </a:r>
          </a:p>
          <a:p>
            <a:endParaRPr lang="de-DE" dirty="0"/>
          </a:p>
          <a:p>
            <a:r>
              <a:rPr lang="de-DE" dirty="0"/>
              <a:t>		+	nachträgliche Anschaffungskosten</a:t>
            </a:r>
          </a:p>
          <a:p>
            <a:endParaRPr lang="de-DE" dirty="0"/>
          </a:p>
          <a:p>
            <a:r>
              <a:rPr lang="de-DE" dirty="0"/>
              <a:t>		-	Preisminderungen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=	Anschaffungskosten</a:t>
            </a:r>
          </a:p>
          <a:p>
            <a:endParaRPr lang="de-DE" dirty="0"/>
          </a:p>
          <a:p>
            <a:r>
              <a:rPr lang="de-DE" dirty="0"/>
              <a:t>		=	Bemessungsgrundlage für Abschreibungen</a:t>
            </a:r>
          </a:p>
          <a:p>
            <a:endParaRPr lang="de-DE" dirty="0"/>
          </a:p>
          <a:p>
            <a:r>
              <a:rPr lang="de-DE" dirty="0"/>
              <a:t>				</a:t>
            </a:r>
          </a:p>
          <a:p>
            <a:r>
              <a:rPr lang="de-DE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42789053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579418" y="1039090"/>
            <a:ext cx="7193764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</a:t>
            </a:r>
          </a:p>
          <a:p>
            <a:r>
              <a:rPr lang="de-DE" dirty="0"/>
              <a:t>	</a:t>
            </a:r>
          </a:p>
          <a:p>
            <a:endParaRPr lang="de-DE" dirty="0"/>
          </a:p>
          <a:p>
            <a:r>
              <a:rPr lang="de-DE" dirty="0"/>
              <a:t>		die Umsatzsteuer </a:t>
            </a:r>
          </a:p>
          <a:p>
            <a:endParaRPr lang="de-DE" dirty="0"/>
          </a:p>
          <a:p>
            <a:r>
              <a:rPr lang="de-DE" dirty="0"/>
              <a:t>		gehört nicht zu den Anschaffungskosten</a:t>
            </a:r>
          </a:p>
          <a:p>
            <a:endParaRPr lang="de-DE" dirty="0"/>
          </a:p>
          <a:p>
            <a:r>
              <a:rPr lang="de-DE" dirty="0"/>
              <a:t>		soweit sie als Vorsteuer geltend gemacht werden kann.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		</a:t>
            </a:r>
          </a:p>
          <a:p>
            <a:r>
              <a:rPr lang="de-DE" dirty="0"/>
              <a:t>		Die Anschaffungskosten</a:t>
            </a:r>
          </a:p>
          <a:p>
            <a:endParaRPr lang="de-DE" dirty="0"/>
          </a:p>
          <a:p>
            <a:r>
              <a:rPr lang="de-DE" dirty="0"/>
              <a:t>		vermindert um die ( planmäßigen ) Abschreibungen</a:t>
            </a:r>
          </a:p>
          <a:p>
            <a:endParaRPr lang="de-DE" dirty="0"/>
          </a:p>
          <a:p>
            <a:r>
              <a:rPr lang="de-DE" dirty="0"/>
              <a:t>		nennt man „fortgeführte Anschaffungskosten“</a:t>
            </a:r>
          </a:p>
          <a:p>
            <a:r>
              <a:rPr lang="de-DE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10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D 14 )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Aus welchen Komponenten setzen sich die</a:t>
            </a:r>
          </a:p>
          <a:p>
            <a:endParaRPr lang="de-DE" dirty="0"/>
          </a:p>
          <a:p>
            <a:r>
              <a:rPr lang="de-DE" dirty="0"/>
              <a:t>Herstellungskosten eines Vermögensgegenstandes zusammen ?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Welche Kosten müssen, welche können und</a:t>
            </a:r>
          </a:p>
          <a:p>
            <a:endParaRPr lang="de-DE" dirty="0"/>
          </a:p>
          <a:p>
            <a:r>
              <a:rPr lang="de-DE" dirty="0"/>
              <a:t>welche dürfen nicht angesetzt werden ?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40678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891724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Herstellungskosten                                        § 255 Abs. 2 HGB                      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„Aufwendungen,  die entstehen durch</a:t>
            </a:r>
          </a:p>
          <a:p>
            <a:endParaRPr lang="de-DE" dirty="0"/>
          </a:p>
          <a:p>
            <a:r>
              <a:rPr lang="de-DE" dirty="0"/>
              <a:t>		den Verbrauch von Gütern und </a:t>
            </a:r>
          </a:p>
          <a:p>
            <a:r>
              <a:rPr lang="de-DE" dirty="0"/>
              <a:t>		die Inanspruchnahme von Diensten für</a:t>
            </a:r>
          </a:p>
          <a:p>
            <a:endParaRPr lang="de-DE" dirty="0"/>
          </a:p>
          <a:p>
            <a:r>
              <a:rPr lang="de-DE" dirty="0"/>
              <a:t>		die Herstellung eines Vermögensgegenstands</a:t>
            </a:r>
          </a:p>
          <a:p>
            <a:r>
              <a:rPr lang="de-DE" dirty="0"/>
              <a:t>		seine Erweiterung oder</a:t>
            </a:r>
          </a:p>
          <a:p>
            <a:r>
              <a:rPr lang="de-DE" dirty="0"/>
              <a:t>		eine über seinen ursprünglichen Zustand</a:t>
            </a:r>
            <a:br>
              <a:rPr lang="de-DE" dirty="0"/>
            </a:br>
            <a:r>
              <a:rPr lang="de-DE" dirty="0"/>
              <a:t>		hinausgehende wesentliche Verbesserung“</a:t>
            </a:r>
          </a:p>
          <a:p>
            <a:r>
              <a:rPr lang="de-DE" dirty="0"/>
              <a:t>		</a:t>
            </a:r>
          </a:p>
          <a:p>
            <a:r>
              <a:rPr lang="de-DE" dirty="0"/>
              <a:t>	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697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05593" y="1330036"/>
            <a:ext cx="951876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		Schema Zuschlagskalkulation                                                              </a:t>
            </a:r>
          </a:p>
          <a:p>
            <a:r>
              <a:rPr lang="de-DE" dirty="0"/>
              <a:t>		aus der Kostenträgerrechnung                                                                                        </a:t>
            </a:r>
          </a:p>
          <a:p>
            <a:endParaRPr lang="de-DE" dirty="0"/>
          </a:p>
          <a:p>
            <a:r>
              <a:rPr lang="de-DE" dirty="0"/>
              <a:t>		Material-Einzelkosten</a:t>
            </a:r>
          </a:p>
          <a:p>
            <a:r>
              <a:rPr lang="de-DE" dirty="0"/>
              <a:t>aus	+ %	Material-Gemeinkosten</a:t>
            </a:r>
          </a:p>
          <a:p>
            <a:r>
              <a:rPr lang="de-DE" dirty="0"/>
              <a:t>BAB</a:t>
            </a:r>
          </a:p>
          <a:p>
            <a:r>
              <a:rPr lang="de-DE" dirty="0"/>
              <a:t>		Fertigungs-Einzelkosten			müssen</a:t>
            </a:r>
          </a:p>
          <a:p>
            <a:r>
              <a:rPr lang="de-DE" dirty="0"/>
              <a:t>	+ %	Fertigungs-Gemeinkosten</a:t>
            </a:r>
          </a:p>
          <a:p>
            <a:r>
              <a:rPr lang="de-DE" dirty="0"/>
              <a:t>		Sondereinzelkosten der Fertigung</a:t>
            </a:r>
          </a:p>
          <a:p>
            <a:endParaRPr lang="de-DE" dirty="0"/>
          </a:p>
          <a:p>
            <a:r>
              <a:rPr lang="de-DE" dirty="0"/>
              <a:t>	=	Herstellungskosten</a:t>
            </a:r>
          </a:p>
          <a:p>
            <a:r>
              <a:rPr lang="de-DE" dirty="0"/>
              <a:t>		</a:t>
            </a:r>
          </a:p>
          <a:p>
            <a:r>
              <a:rPr lang="de-DE" dirty="0"/>
              <a:t>aus	+ %	Verwaltungskosten				können</a:t>
            </a:r>
          </a:p>
          <a:p>
            <a:r>
              <a:rPr lang="de-DE" dirty="0"/>
              <a:t>BAB	+ %	Vertriebskosten				dürfen nicht</a:t>
            </a:r>
          </a:p>
          <a:p>
            <a:endParaRPr lang="de-DE" dirty="0"/>
          </a:p>
          <a:p>
            <a:r>
              <a:rPr lang="de-DE" dirty="0"/>
              <a:t>	=	Selbstkosten 				angesetzt werden</a:t>
            </a:r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/>
          <p:cNvCxnSpPr/>
          <p:nvPr/>
        </p:nvCxnSpPr>
        <p:spPr>
          <a:xfrm>
            <a:off x="6633556" y="2310938"/>
            <a:ext cx="8313" cy="157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126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287" y="581891"/>
            <a:ext cx="9044248" cy="551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500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Achtung bei Berücksichtigung eines Restwertes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Berechnung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---   der Abschreibung aus dem Abschreibungsvolumen  ( AK – RW )	</a:t>
            </a:r>
            <a:r>
              <a:rPr lang="de-DE" dirty="0">
                <a:sym typeface="Wingdings" panose="05000000000000000000" pitchFamily="2" charset="2"/>
              </a:rPr>
              <a:t>  </a:t>
            </a:r>
            <a:r>
              <a:rPr lang="de-DE" dirty="0"/>
              <a:t>120.000 €</a:t>
            </a:r>
          </a:p>
          <a:p>
            <a:r>
              <a:rPr lang="de-DE" dirty="0"/>
              <a:t>		</a:t>
            </a:r>
          </a:p>
          <a:p>
            <a:endParaRPr lang="de-DE" dirty="0"/>
          </a:p>
          <a:p>
            <a:r>
              <a:rPr lang="de-DE" dirty="0"/>
              <a:t>---   der fortgeführten Buchwerte aus den Anschaffungskosten	</a:t>
            </a:r>
            <a:r>
              <a:rPr lang="de-DE" dirty="0">
                <a:sym typeface="Wingdings" panose="05000000000000000000" pitchFamily="2" charset="2"/>
              </a:rPr>
              <a:t>  150.000 €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10402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( 1 )     Lineare Abschreibung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A =  ( AK – RW ) : ND</a:t>
            </a:r>
          </a:p>
          <a:p>
            <a:endParaRPr lang="de-DE" dirty="0"/>
          </a:p>
          <a:p>
            <a:r>
              <a:rPr lang="de-DE" dirty="0"/>
              <a:t>	A =  ( 150.000 € - 30.000 € ) : 6 Jahre 		= 20.000 € pro Jahr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>
            <a:off x="2335876" y="1720735"/>
            <a:ext cx="64589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195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637841"/>
              </p:ext>
            </p:extLst>
          </p:nvPr>
        </p:nvGraphicFramePr>
        <p:xfrm>
          <a:off x="1521229" y="1725506"/>
          <a:ext cx="9252064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396">
                  <a:extLst>
                    <a:ext uri="{9D8B030D-6E8A-4147-A177-3AD203B41FA5}">
                      <a16:colId xmlns:a16="http://schemas.microsoft.com/office/drawing/2014/main" val="919492653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11397810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266296"/>
                    </a:ext>
                  </a:extLst>
                </a:gridCol>
                <a:gridCol w="4705003">
                  <a:extLst>
                    <a:ext uri="{9D8B030D-6E8A-4147-A177-3AD203B41FA5}">
                      <a16:colId xmlns:a16="http://schemas.microsoft.com/office/drawing/2014/main" val="2220673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Jahr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Abschreibung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fortgeführte AK</a:t>
                      </a:r>
                    </a:p>
                    <a:p>
                      <a:r>
                        <a:rPr lang="de-DE" dirty="0"/>
                        <a:t>( Buchwert 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Berechnung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351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20.000 €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130.000 €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14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000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90.000 €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4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70.000 €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48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50.000 €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20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30.000 €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61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2281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( 2 )     Leistungsabschreibung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A =  ( AK – RW )   :   Gesamtleistung   x   verbrauchte Leistung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A =  ( 150.000 € - 30.000 € )   :   6.000 Stunden 	=    20 € pro Stunde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>
            <a:off x="2335876" y="1720735"/>
            <a:ext cx="64589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460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140119"/>
              </p:ext>
            </p:extLst>
          </p:nvPr>
        </p:nvGraphicFramePr>
        <p:xfrm>
          <a:off x="1463040" y="1891760"/>
          <a:ext cx="925206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396">
                  <a:extLst>
                    <a:ext uri="{9D8B030D-6E8A-4147-A177-3AD203B41FA5}">
                      <a16:colId xmlns:a16="http://schemas.microsoft.com/office/drawing/2014/main" val="919492653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11397810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266296"/>
                    </a:ext>
                  </a:extLst>
                </a:gridCol>
                <a:gridCol w="4705003">
                  <a:extLst>
                    <a:ext uri="{9D8B030D-6E8A-4147-A177-3AD203B41FA5}">
                      <a16:colId xmlns:a16="http://schemas.microsoft.com/office/drawing/2014/main" val="2220673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Jahr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Abschreibung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fortgeführte 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Berechnung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351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140.000 €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</a:t>
                      </a:r>
                      <a:r>
                        <a:rPr lang="de-DE" baseline="0" dirty="0"/>
                        <a:t> € x 500 Stunden 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14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24.000 €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116.000 €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20 € x 1.200 Stunden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000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30.000 €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aseline="0" dirty="0"/>
                        <a:t>  86.000 €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20 € x 1.500 Stunden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4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86.000</a:t>
                      </a:r>
                      <a:r>
                        <a:rPr lang="de-DE" baseline="0" dirty="0"/>
                        <a:t> €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eventuell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48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86.000 €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außerplanmäßige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20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86.000 €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Abschreibung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779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3772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( 3 )     Geometrisch degressive Abschreibung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fester Prozentsatz </a:t>
            </a:r>
          </a:p>
          <a:p>
            <a:r>
              <a:rPr lang="de-DE" dirty="0"/>
              <a:t>	vom jeweiligen Restbuchwert </a:t>
            </a:r>
          </a:p>
          <a:p>
            <a:r>
              <a:rPr lang="de-DE" dirty="0"/>
              <a:t>	hier vereinfachend 30 %</a:t>
            </a:r>
          </a:p>
          <a:p>
            <a:endParaRPr lang="de-DE" dirty="0"/>
          </a:p>
          <a:p>
            <a:r>
              <a:rPr lang="de-DE" dirty="0"/>
              <a:t>	Wechsel zur linearen Abschreibung möglich</a:t>
            </a:r>
          </a:p>
          <a:p>
            <a:r>
              <a:rPr lang="de-DE" dirty="0"/>
              <a:t>	falls lineare Abschreibung </a:t>
            </a:r>
            <a:br>
              <a:rPr lang="de-DE" dirty="0"/>
            </a:br>
            <a:r>
              <a:rPr lang="de-DE" dirty="0"/>
              <a:t>	aus Restbuchwert und Restnutzungsdauer </a:t>
            </a:r>
            <a:br>
              <a:rPr lang="de-DE" dirty="0"/>
            </a:br>
            <a:r>
              <a:rPr lang="de-DE" dirty="0"/>
              <a:t>	höher als degressive Abschreibung</a:t>
            </a:r>
          </a:p>
          <a:p>
            <a:r>
              <a:rPr lang="de-DE" dirty="0"/>
              <a:t>	</a:t>
            </a:r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>
            <a:off x="2335876" y="1720735"/>
            <a:ext cx="64589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3884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72086"/>
              </p:ext>
            </p:extLst>
          </p:nvPr>
        </p:nvGraphicFramePr>
        <p:xfrm>
          <a:off x="1338350" y="1592502"/>
          <a:ext cx="9252064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396">
                  <a:extLst>
                    <a:ext uri="{9D8B030D-6E8A-4147-A177-3AD203B41FA5}">
                      <a16:colId xmlns:a16="http://schemas.microsoft.com/office/drawing/2014/main" val="919492653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11397810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266296"/>
                    </a:ext>
                  </a:extLst>
                </a:gridCol>
                <a:gridCol w="4705003">
                  <a:extLst>
                    <a:ext uri="{9D8B030D-6E8A-4147-A177-3AD203B41FA5}">
                      <a16:colId xmlns:a16="http://schemas.microsoft.com/office/drawing/2014/main" val="2220673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Jahr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Abschreibung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fortgeführte 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Berechnung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351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36.000 €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114.000 €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120.000 € x 30 %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14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25.200 €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88.800</a:t>
                      </a:r>
                      <a:r>
                        <a:rPr lang="de-DE" baseline="0" dirty="0"/>
                        <a:t> </a:t>
                      </a:r>
                      <a:r>
                        <a:rPr lang="de-DE" dirty="0"/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84.000 € x 30 %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000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17.640 €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71.160 €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58.800</a:t>
                      </a:r>
                      <a:r>
                        <a:rPr lang="de-DE" baseline="0" dirty="0"/>
                        <a:t> € x 30 % = </a:t>
                      </a:r>
                      <a:r>
                        <a:rPr lang="de-DE" b="1" i="0" baseline="0" dirty="0"/>
                        <a:t>17.640 €</a:t>
                      </a:r>
                    </a:p>
                    <a:p>
                      <a:r>
                        <a:rPr lang="de-DE" b="1" baseline="0" dirty="0"/>
                        <a:t>Wechsel </a:t>
                      </a:r>
                      <a:r>
                        <a:rPr lang="de-DE" baseline="0" dirty="0"/>
                        <a:t>58.800 : 4 Restjahre = </a:t>
                      </a:r>
                      <a:r>
                        <a:rPr lang="de-DE" b="1" baseline="0" dirty="0"/>
                        <a:t>14.700 €</a:t>
                      </a:r>
                      <a:r>
                        <a:rPr lang="de-DE" baseline="0" dirty="0"/>
                        <a:t> </a:t>
                      </a:r>
                      <a:r>
                        <a:rPr lang="de-DE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de-DE" b="1" baseline="0" dirty="0">
                          <a:sym typeface="Wingdings" panose="05000000000000000000" pitchFamily="2" charset="2"/>
                        </a:rPr>
                        <a:t>nein</a:t>
                      </a:r>
                      <a:endParaRPr lang="de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4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13.720</a:t>
                      </a:r>
                      <a:r>
                        <a:rPr lang="de-DE" baseline="0" dirty="0"/>
                        <a:t> € linear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57.440 €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41.160 €</a:t>
                      </a:r>
                      <a:r>
                        <a:rPr lang="de-DE" baseline="0" dirty="0"/>
                        <a:t> x 30 % = </a:t>
                      </a:r>
                      <a:r>
                        <a:rPr lang="de-DE" b="1" baseline="0" dirty="0"/>
                        <a:t>12.348 €</a:t>
                      </a:r>
                    </a:p>
                    <a:p>
                      <a:r>
                        <a:rPr lang="de-DE" b="1" baseline="0" dirty="0"/>
                        <a:t>Wechsel</a:t>
                      </a:r>
                      <a:r>
                        <a:rPr lang="de-DE" baseline="0" dirty="0"/>
                        <a:t> 41.160 : 3 Restjahre = </a:t>
                      </a:r>
                      <a:r>
                        <a:rPr lang="de-DE" b="1" baseline="0" dirty="0"/>
                        <a:t>13.720 €</a:t>
                      </a:r>
                      <a:r>
                        <a:rPr lang="de-DE" baseline="0" dirty="0"/>
                        <a:t> </a:t>
                      </a:r>
                      <a:r>
                        <a:rPr lang="de-DE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de-DE" b="1" baseline="0" dirty="0">
                          <a:sym typeface="Wingdings" panose="05000000000000000000" pitchFamily="2" charset="2"/>
                        </a:rPr>
                        <a:t>ja</a:t>
                      </a:r>
                      <a:endParaRPr lang="de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48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13.720 €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43.720 €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20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13.720 € linear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30.000 €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012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4681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( 4 )         Digitale Abschreibung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Sonderform der arithmetisch-degressiven Abschreibung</a:t>
            </a:r>
          </a:p>
          <a:p>
            <a:r>
              <a:rPr lang="de-DE" dirty="0"/>
              <a:t>	Degressionsbetrag entspricht der Abschreibung</a:t>
            </a:r>
          </a:p>
          <a:p>
            <a:r>
              <a:rPr lang="de-DE" dirty="0"/>
              <a:t>	der letzten Periode</a:t>
            </a:r>
          </a:p>
          <a:p>
            <a:endParaRPr lang="de-DE" dirty="0"/>
          </a:p>
          <a:p>
            <a:r>
              <a:rPr lang="de-DE" dirty="0"/>
              <a:t>	1 + 2 + 3 + 4 + 5 + 6   =   21			Addition Jahresziffern</a:t>
            </a:r>
          </a:p>
          <a:p>
            <a:endParaRPr lang="de-DE" dirty="0"/>
          </a:p>
          <a:p>
            <a:r>
              <a:rPr lang="de-DE" dirty="0"/>
              <a:t>	( 150.000 € - 30.000 € )   :   21   =  5.714 €   	Degressionsbetrag</a:t>
            </a:r>
          </a:p>
          <a:p>
            <a:endParaRPr lang="de-DE" dirty="0"/>
          </a:p>
          <a:p>
            <a:r>
              <a:rPr lang="de-DE" dirty="0"/>
              <a:t>	Multiplikation in umgekehrter Reihenfolge</a:t>
            </a:r>
          </a:p>
          <a:p>
            <a:r>
              <a:rPr lang="de-DE" dirty="0"/>
              <a:t>	</a:t>
            </a:r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>
            <a:off x="2335876" y="1720735"/>
            <a:ext cx="64589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3655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681363"/>
              </p:ext>
            </p:extLst>
          </p:nvPr>
        </p:nvGraphicFramePr>
        <p:xfrm>
          <a:off x="1429789" y="1933324"/>
          <a:ext cx="925206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396">
                  <a:extLst>
                    <a:ext uri="{9D8B030D-6E8A-4147-A177-3AD203B41FA5}">
                      <a16:colId xmlns:a16="http://schemas.microsoft.com/office/drawing/2014/main" val="919492653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11397810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266296"/>
                    </a:ext>
                  </a:extLst>
                </a:gridCol>
                <a:gridCol w="4705003">
                  <a:extLst>
                    <a:ext uri="{9D8B030D-6E8A-4147-A177-3AD203B41FA5}">
                      <a16:colId xmlns:a16="http://schemas.microsoft.com/office/drawing/2014/main" val="2220673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Jahr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Abschreibung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fortgeführte 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Berechnung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351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34.284 €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115.716 €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5.714 € x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14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28.570 €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87.146 €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5.714 € x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000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22.856 €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64.290 €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5.714 € x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4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17.142 €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47.148 </a:t>
                      </a:r>
                      <a:r>
                        <a:rPr lang="de-DE" baseline="0" dirty="0"/>
                        <a:t>€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5.714 € x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48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11.428 €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35.720 €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5.714 € x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20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5.714 €  ( !! 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30.000</a:t>
                      </a:r>
                      <a:r>
                        <a:rPr lang="de-DE" baseline="0" dirty="0"/>
                        <a:t> €  ( !! )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5.714 € x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751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2178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4" y="1172095"/>
            <a:ext cx="7880465" cy="433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395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745" y="1512916"/>
            <a:ext cx="8146473" cy="349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377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( 1 )     Durchschnittswert-Verfahren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+   100 t x 26 €	2.600 €</a:t>
            </a:r>
          </a:p>
          <a:p>
            <a:r>
              <a:rPr lang="de-DE" dirty="0"/>
              <a:t>+   200 t x 22 €	4.400 €</a:t>
            </a:r>
          </a:p>
          <a:p>
            <a:r>
              <a:rPr lang="de-DE" dirty="0"/>
              <a:t>+   ( ... ) 		( … ) </a:t>
            </a:r>
          </a:p>
          <a:p>
            <a:endParaRPr lang="de-DE" dirty="0"/>
          </a:p>
          <a:p>
            <a:r>
              <a:rPr lang="de-DE" dirty="0"/>
              <a:t>=    700 t		17.000 €		= 24,29 € / t</a:t>
            </a:r>
          </a:p>
          <a:p>
            <a:endParaRPr lang="de-DE" dirty="0"/>
          </a:p>
          <a:p>
            <a:r>
              <a:rPr lang="de-DE" dirty="0"/>
              <a:t>Bewertung Bestand</a:t>
            </a:r>
          </a:p>
          <a:p>
            <a:r>
              <a:rPr lang="de-DE" dirty="0"/>
              <a:t>800 t x 24,29 €			= 7.287 €</a:t>
            </a:r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>
            <a:off x="2344189" y="1729047"/>
            <a:ext cx="5295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3185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( 2 )     </a:t>
            </a:r>
            <a:r>
              <a:rPr lang="de-DE" dirty="0" err="1"/>
              <a:t>lifo</a:t>
            </a:r>
            <a:r>
              <a:rPr lang="de-DE" dirty="0"/>
              <a:t>  --- last in </a:t>
            </a:r>
            <a:r>
              <a:rPr lang="de-DE" dirty="0" err="1"/>
              <a:t>first</a:t>
            </a:r>
            <a:r>
              <a:rPr lang="de-DE" dirty="0"/>
              <a:t> out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Bestand kommt aus den ältesten Lieferungen </a:t>
            </a:r>
          </a:p>
          <a:p>
            <a:endParaRPr lang="de-DE" dirty="0"/>
          </a:p>
          <a:p>
            <a:r>
              <a:rPr lang="de-DE" dirty="0"/>
              <a:t>+   100 t x 26 €	2.600 €</a:t>
            </a:r>
          </a:p>
          <a:p>
            <a:r>
              <a:rPr lang="de-DE" dirty="0"/>
              <a:t>+   200 t x 22 €	4.400 €</a:t>
            </a:r>
          </a:p>
          <a:p>
            <a:r>
              <a:rPr lang="de-DE" dirty="0"/>
              <a:t> </a:t>
            </a:r>
          </a:p>
          <a:p>
            <a:endParaRPr lang="de-DE" dirty="0"/>
          </a:p>
          <a:p>
            <a:r>
              <a:rPr lang="de-DE" dirty="0"/>
              <a:t>=    300 t		 7.000 €		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>
            <a:off x="2344189" y="1729047"/>
            <a:ext cx="5295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9626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( 3 )     </a:t>
            </a:r>
            <a:r>
              <a:rPr lang="de-DE" dirty="0" err="1"/>
              <a:t>fifo</a:t>
            </a:r>
            <a:r>
              <a:rPr lang="de-DE" dirty="0"/>
              <a:t>  --- </a:t>
            </a:r>
            <a:r>
              <a:rPr lang="de-DE" dirty="0" err="1"/>
              <a:t>first</a:t>
            </a:r>
            <a:r>
              <a:rPr lang="de-DE" dirty="0"/>
              <a:t> in </a:t>
            </a:r>
            <a:r>
              <a:rPr lang="de-DE" dirty="0" err="1"/>
              <a:t>first</a:t>
            </a:r>
            <a:r>
              <a:rPr lang="de-DE" dirty="0"/>
              <a:t> out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Bestand kommt aus den jüngsten Lieferungen </a:t>
            </a:r>
          </a:p>
          <a:p>
            <a:endParaRPr lang="de-DE" dirty="0"/>
          </a:p>
          <a:p>
            <a:r>
              <a:rPr lang="de-DE" dirty="0"/>
              <a:t>+    50 t x 25 €	1.250 €</a:t>
            </a:r>
          </a:p>
          <a:p>
            <a:r>
              <a:rPr lang="de-DE" dirty="0"/>
              <a:t>+    50 t x 23 €	1.150 €</a:t>
            </a:r>
          </a:p>
          <a:p>
            <a:r>
              <a:rPr lang="de-DE" dirty="0"/>
              <a:t>+  200 t x 28 €	5.600 €</a:t>
            </a:r>
          </a:p>
          <a:p>
            <a:endParaRPr lang="de-DE" dirty="0"/>
          </a:p>
          <a:p>
            <a:r>
              <a:rPr lang="de-DE" dirty="0"/>
              <a:t>=    300 t		 8.000 €		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>
            <a:off x="2344189" y="1729047"/>
            <a:ext cx="5295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9800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( 4 )     </a:t>
            </a:r>
            <a:r>
              <a:rPr lang="de-DE" dirty="0" err="1"/>
              <a:t>hifo</a:t>
            </a:r>
            <a:r>
              <a:rPr lang="de-DE" dirty="0"/>
              <a:t>  --- </a:t>
            </a:r>
            <a:r>
              <a:rPr lang="de-DE" dirty="0" err="1"/>
              <a:t>highest</a:t>
            </a:r>
            <a:r>
              <a:rPr lang="de-DE" dirty="0"/>
              <a:t> in </a:t>
            </a:r>
            <a:r>
              <a:rPr lang="de-DE" dirty="0" err="1"/>
              <a:t>first</a:t>
            </a:r>
            <a:r>
              <a:rPr lang="de-DE" dirty="0"/>
              <a:t> out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Bestand kommt aus den billigsten Lieferungen </a:t>
            </a:r>
          </a:p>
          <a:p>
            <a:endParaRPr lang="de-DE" dirty="0"/>
          </a:p>
          <a:p>
            <a:r>
              <a:rPr lang="de-DE" dirty="0"/>
              <a:t>+   100 t x 20 €	2.000 €</a:t>
            </a:r>
          </a:p>
          <a:p>
            <a:r>
              <a:rPr lang="de-DE" dirty="0"/>
              <a:t>+   200 t x 22 €	4.400 €</a:t>
            </a:r>
          </a:p>
          <a:p>
            <a:endParaRPr lang="de-DE" dirty="0"/>
          </a:p>
          <a:p>
            <a:r>
              <a:rPr lang="de-DE" dirty="0"/>
              <a:t>=    300 t		 6.400 €		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>
            <a:off x="2344189" y="1729047"/>
            <a:ext cx="5295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5580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( 5 )     </a:t>
            </a:r>
            <a:r>
              <a:rPr lang="de-DE" dirty="0" err="1"/>
              <a:t>lofo</a:t>
            </a:r>
            <a:r>
              <a:rPr lang="de-DE" dirty="0"/>
              <a:t>  --- </a:t>
            </a:r>
            <a:r>
              <a:rPr lang="de-DE" dirty="0" err="1"/>
              <a:t>lowest</a:t>
            </a:r>
            <a:r>
              <a:rPr lang="de-DE" dirty="0"/>
              <a:t> in </a:t>
            </a:r>
            <a:r>
              <a:rPr lang="de-DE" dirty="0" err="1"/>
              <a:t>first</a:t>
            </a:r>
            <a:r>
              <a:rPr lang="de-DE" dirty="0"/>
              <a:t> out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Bestand kommt aus den teuersten Lieferungen </a:t>
            </a:r>
          </a:p>
          <a:p>
            <a:endParaRPr lang="de-DE" dirty="0"/>
          </a:p>
          <a:p>
            <a:r>
              <a:rPr lang="de-DE" dirty="0"/>
              <a:t>+   200 t x 28 €	5.600 €</a:t>
            </a:r>
          </a:p>
          <a:p>
            <a:r>
              <a:rPr lang="de-DE" dirty="0"/>
              <a:t>+   100 t x 26 €	2.600 €</a:t>
            </a:r>
          </a:p>
          <a:p>
            <a:endParaRPr lang="de-DE" dirty="0"/>
          </a:p>
          <a:p>
            <a:r>
              <a:rPr lang="de-DE" dirty="0"/>
              <a:t>=    300 t		 8.200 €		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>
            <a:off x="2344189" y="1729047"/>
            <a:ext cx="5295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1298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618509" y="1512916"/>
            <a:ext cx="559775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Handelsrechtlich erlaubt		Durchschnittswert</a:t>
            </a:r>
          </a:p>
          <a:p>
            <a:r>
              <a:rPr lang="de-DE" dirty="0"/>
              <a:t>				</a:t>
            </a:r>
            <a:r>
              <a:rPr lang="de-DE" dirty="0" err="1"/>
              <a:t>lifo</a:t>
            </a:r>
            <a:r>
              <a:rPr lang="de-DE" dirty="0"/>
              <a:t> und </a:t>
            </a:r>
            <a:r>
              <a:rPr lang="de-DE" dirty="0" err="1"/>
              <a:t>fifo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Steuerrechtlich erlaubt		Durchschnittswert</a:t>
            </a:r>
          </a:p>
          <a:p>
            <a:r>
              <a:rPr lang="de-DE" dirty="0"/>
              <a:t>				und nur </a:t>
            </a:r>
            <a:r>
              <a:rPr lang="de-DE" dirty="0" err="1"/>
              <a:t>lifo</a:t>
            </a:r>
            <a:endParaRPr lang="de-DE" dirty="0"/>
          </a:p>
          <a:p>
            <a:endParaRPr lang="de-DE" dirty="0"/>
          </a:p>
          <a:p>
            <a:r>
              <a:rPr lang="de-DE" dirty="0"/>
              <a:t>nur in der Kostenrechnung</a:t>
            </a:r>
          </a:p>
          <a:p>
            <a:r>
              <a:rPr lang="de-DE" dirty="0"/>
              <a:t>möglich				</a:t>
            </a:r>
            <a:r>
              <a:rPr lang="de-DE" dirty="0" err="1"/>
              <a:t>lofo</a:t>
            </a:r>
            <a:r>
              <a:rPr lang="de-DE" dirty="0"/>
              <a:t> und </a:t>
            </a:r>
            <a:r>
              <a:rPr lang="de-DE" dirty="0" err="1"/>
              <a:t>hifo</a:t>
            </a:r>
            <a:r>
              <a:rPr lang="de-DE" dirty="0"/>
              <a:t> 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77837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3133898" y="1554480"/>
            <a:ext cx="55358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strenges Niederstwertprinzip beim Umlaufvermögen</a:t>
            </a:r>
          </a:p>
          <a:p>
            <a:endParaRPr lang="de-DE" dirty="0"/>
          </a:p>
          <a:p>
            <a:r>
              <a:rPr lang="de-DE" dirty="0"/>
              <a:t>falls Kontrollwert ( Börsen- oder Marktpreis ) </a:t>
            </a:r>
          </a:p>
          <a:p>
            <a:endParaRPr lang="de-DE" dirty="0"/>
          </a:p>
          <a:p>
            <a:r>
              <a:rPr lang="de-DE" dirty="0"/>
              <a:t>niedriger als Bestandswert aus den Bewertungsverfahren</a:t>
            </a:r>
          </a:p>
          <a:p>
            <a:endParaRPr lang="de-DE" dirty="0"/>
          </a:p>
          <a:p>
            <a:r>
              <a:rPr lang="de-DE" dirty="0"/>
              <a:t>muss abgewertet werden.</a:t>
            </a:r>
          </a:p>
          <a:p>
            <a:r>
              <a:rPr lang="de-DE" dirty="0"/>
              <a:t> 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91137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614872"/>
              </p:ext>
            </p:extLst>
          </p:nvPr>
        </p:nvGraphicFramePr>
        <p:xfrm>
          <a:off x="1849120" y="1775382"/>
          <a:ext cx="81280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9707069"/>
                    </a:ext>
                  </a:extLst>
                </a:gridCol>
                <a:gridCol w="1971040">
                  <a:extLst>
                    <a:ext uri="{9D8B030D-6E8A-4147-A177-3AD203B41FA5}">
                      <a16:colId xmlns:a16="http://schemas.microsoft.com/office/drawing/2014/main" val="2757772696"/>
                    </a:ext>
                  </a:extLst>
                </a:gridCol>
                <a:gridCol w="2092960">
                  <a:extLst>
                    <a:ext uri="{9D8B030D-6E8A-4147-A177-3AD203B41FA5}">
                      <a16:colId xmlns:a16="http://schemas.microsoft.com/office/drawing/2014/main" val="26202211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39284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Verfahren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Bestandswert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Kontrollwert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Ansatz NWP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200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Durchschnitt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7.287 €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7.200 €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7.200 €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220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lifo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7.200</a:t>
                      </a:r>
                      <a:r>
                        <a:rPr lang="de-DE" baseline="0" dirty="0"/>
                        <a:t> €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7.000 €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683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fifo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8.000 €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7.200 €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7.200 €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945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933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2247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3133898" y="1554480"/>
            <a:ext cx="436702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( D 19 )	Anschaffungskosten Flugzeug</a:t>
            </a:r>
          </a:p>
          <a:p>
            <a:endParaRPr lang="de-DE" dirty="0"/>
          </a:p>
          <a:p>
            <a:r>
              <a:rPr lang="de-DE" dirty="0"/>
              <a:t>( D 20 )	Herstellungskosten Abfallcontainer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wurden bereits in der Veranstaltung</a:t>
            </a:r>
          </a:p>
          <a:p>
            <a:r>
              <a:rPr lang="de-DE" dirty="0"/>
              <a:t>besprochen und erläutert.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09639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3133898" y="1014152"/>
            <a:ext cx="511261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( E 4 )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In welche einzelnen Positionen wird das Eigenkapital</a:t>
            </a:r>
          </a:p>
          <a:p>
            <a:endParaRPr lang="de-DE" dirty="0"/>
          </a:p>
          <a:p>
            <a:r>
              <a:rPr lang="de-DE" dirty="0"/>
              <a:t>einer Kapitalgesellschaft untergliedert ?</a:t>
            </a:r>
          </a:p>
          <a:p>
            <a:endParaRPr lang="de-DE" dirty="0"/>
          </a:p>
          <a:p>
            <a:r>
              <a:rPr lang="de-DE" dirty="0"/>
              <a:t>Erläutern Sie, wie diese Posten entstehen.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61006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353196" y="1330038"/>
            <a:ext cx="701955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Eigenkapital bei Kapitalgesellschaften                              </a:t>
            </a:r>
          </a:p>
          <a:p>
            <a:r>
              <a:rPr lang="de-DE" dirty="0"/>
              <a:t>		AG, GmbH und UG sowie KGaA</a:t>
            </a:r>
          </a:p>
          <a:p>
            <a:endParaRPr lang="de-DE" dirty="0"/>
          </a:p>
          <a:p>
            <a:r>
              <a:rPr lang="de-DE" dirty="0"/>
              <a:t>		</a:t>
            </a:r>
          </a:p>
          <a:p>
            <a:r>
              <a:rPr lang="de-DE" dirty="0"/>
              <a:t>		---   Gezeichnetes Kapital</a:t>
            </a:r>
          </a:p>
          <a:p>
            <a:endParaRPr lang="de-DE" dirty="0"/>
          </a:p>
          <a:p>
            <a:r>
              <a:rPr lang="de-DE" dirty="0"/>
              <a:t>		---   Kapitalrücklage</a:t>
            </a:r>
          </a:p>
          <a:p>
            <a:endParaRPr lang="de-DE" dirty="0"/>
          </a:p>
          <a:p>
            <a:r>
              <a:rPr lang="de-DE" dirty="0"/>
              <a:t>		---   Gewinnrücklagen</a:t>
            </a:r>
          </a:p>
          <a:p>
            <a:endParaRPr lang="de-DE" dirty="0"/>
          </a:p>
          <a:p>
            <a:r>
              <a:rPr lang="de-DE" dirty="0"/>
              <a:t>		---   Gewinn- oder Verlustvortrag</a:t>
            </a:r>
          </a:p>
          <a:p>
            <a:endParaRPr lang="de-DE" dirty="0"/>
          </a:p>
          <a:p>
            <a:r>
              <a:rPr lang="de-DE" dirty="0"/>
              <a:t>		---   Jahresüberschuss oder –Fehlbetrag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3082638" y="1995055"/>
            <a:ext cx="5660967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9555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353196" y="1196752"/>
            <a:ext cx="743966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	                  Gezeichnetes Kapital                                                                 </a:t>
            </a:r>
          </a:p>
          <a:p>
            <a:r>
              <a:rPr lang="de-DE" dirty="0"/>
              <a:t>		</a:t>
            </a:r>
          </a:p>
          <a:p>
            <a:r>
              <a:rPr lang="de-DE" dirty="0"/>
              <a:t>		</a:t>
            </a:r>
          </a:p>
          <a:p>
            <a:r>
              <a:rPr lang="de-DE" dirty="0"/>
              <a:t>		= Haftkapital, Ansatz zum Nennwert</a:t>
            </a:r>
          </a:p>
          <a:p>
            <a:endParaRPr lang="de-DE" dirty="0"/>
          </a:p>
          <a:p>
            <a:r>
              <a:rPr lang="de-DE" dirty="0"/>
              <a:t>		damit haften die Gesellschafter oder Aktionäre</a:t>
            </a:r>
          </a:p>
          <a:p>
            <a:r>
              <a:rPr lang="de-DE" dirty="0"/>
              <a:t>		für Schulden der Kapitalgesellschaft</a:t>
            </a:r>
          </a:p>
          <a:p>
            <a:endParaRPr lang="de-DE" dirty="0"/>
          </a:p>
          <a:p>
            <a:r>
              <a:rPr lang="de-DE" dirty="0"/>
              <a:t>		Grundkapital bei AG</a:t>
            </a:r>
          </a:p>
          <a:p>
            <a:r>
              <a:rPr lang="de-DE" dirty="0"/>
              <a:t>		mindestens 50.000 Euro</a:t>
            </a:r>
          </a:p>
          <a:p>
            <a:endParaRPr lang="de-DE" dirty="0"/>
          </a:p>
          <a:p>
            <a:r>
              <a:rPr lang="de-DE" dirty="0"/>
              <a:t>		Stammkapital bei GmbH</a:t>
            </a:r>
          </a:p>
          <a:p>
            <a:r>
              <a:rPr lang="de-DE" dirty="0"/>
              <a:t>		mindestens 25.000 Euro </a:t>
            </a:r>
          </a:p>
          <a:p>
            <a:endParaRPr lang="de-DE" dirty="0"/>
          </a:p>
          <a:p>
            <a:r>
              <a:rPr lang="de-DE" dirty="0"/>
              <a:t>		eventuell </a:t>
            </a:r>
          </a:p>
          <a:p>
            <a:r>
              <a:rPr lang="de-DE" dirty="0"/>
              <a:t>		ausstehende Einlagen </a:t>
            </a:r>
          </a:p>
          <a:p>
            <a:r>
              <a:rPr lang="de-DE" dirty="0"/>
              <a:t>		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3082638" y="1995055"/>
            <a:ext cx="5660967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3342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353195" y="1196753"/>
            <a:ext cx="692792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	                  Kapitalrücklage                                                                 </a:t>
            </a:r>
          </a:p>
          <a:p>
            <a:r>
              <a:rPr lang="de-DE" dirty="0"/>
              <a:t>				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„von außen“</a:t>
            </a:r>
          </a:p>
          <a:p>
            <a:endParaRPr lang="de-DE" dirty="0"/>
          </a:p>
          <a:p>
            <a:r>
              <a:rPr lang="de-DE" dirty="0"/>
              <a:t>		Agio bei neuen Aktien</a:t>
            </a:r>
          </a:p>
          <a:p>
            <a:endParaRPr lang="de-DE" dirty="0"/>
          </a:p>
          <a:p>
            <a:r>
              <a:rPr lang="de-DE" dirty="0"/>
              <a:t>		Wandelschuldverschreibungen  </a:t>
            </a:r>
          </a:p>
          <a:p>
            <a:endParaRPr lang="de-DE" dirty="0"/>
          </a:p>
          <a:p>
            <a:r>
              <a:rPr lang="de-DE" dirty="0"/>
              <a:t>		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3082638" y="1700808"/>
            <a:ext cx="5660967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4361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353196" y="1196752"/>
            <a:ext cx="713541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	                  Gewinnrücklagen                                                                 </a:t>
            </a:r>
          </a:p>
          <a:p>
            <a:r>
              <a:rPr lang="de-DE" dirty="0"/>
              <a:t>				</a:t>
            </a:r>
          </a:p>
          <a:p>
            <a:endParaRPr lang="de-DE" dirty="0"/>
          </a:p>
          <a:p>
            <a:r>
              <a:rPr lang="de-DE" dirty="0"/>
              <a:t>		„von innen“</a:t>
            </a:r>
          </a:p>
          <a:p>
            <a:endParaRPr lang="de-DE" dirty="0"/>
          </a:p>
          <a:p>
            <a:r>
              <a:rPr lang="de-DE" dirty="0"/>
              <a:t>		---   gesetzliche Rücklage</a:t>
            </a:r>
          </a:p>
          <a:p>
            <a:r>
              <a:rPr lang="de-DE" dirty="0"/>
              <a:t>			5 % des Jahresüberschusses </a:t>
            </a:r>
            <a:br>
              <a:rPr lang="de-DE" dirty="0"/>
            </a:br>
            <a:r>
              <a:rPr lang="de-DE" dirty="0"/>
              <a:t>			bis 10% vom Grundkapital erreicht</a:t>
            </a:r>
          </a:p>
          <a:p>
            <a:endParaRPr lang="de-DE" dirty="0"/>
          </a:p>
          <a:p>
            <a:r>
              <a:rPr lang="de-DE" dirty="0"/>
              <a:t>		---   satzungsmäßige Rücklagen</a:t>
            </a:r>
          </a:p>
          <a:p>
            <a:endParaRPr lang="de-DE" dirty="0"/>
          </a:p>
          <a:p>
            <a:r>
              <a:rPr lang="de-DE" dirty="0"/>
              <a:t>		---   freie Rücklagen</a:t>
            </a:r>
          </a:p>
          <a:p>
            <a:r>
              <a:rPr lang="de-DE" dirty="0"/>
              <a:t>			durch Hauptversammlung bestimmt</a:t>
            </a:r>
          </a:p>
          <a:p>
            <a:endParaRPr lang="de-DE" dirty="0"/>
          </a:p>
          <a:p>
            <a:r>
              <a:rPr lang="de-DE" dirty="0"/>
              <a:t>		---   Gewinn- oder Verlustvortrag  </a:t>
            </a:r>
          </a:p>
          <a:p>
            <a:endParaRPr lang="de-DE" dirty="0"/>
          </a:p>
          <a:p>
            <a:r>
              <a:rPr lang="de-DE" dirty="0"/>
              <a:t>		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3082638" y="1700808"/>
            <a:ext cx="5660967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6379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353196" y="1196753"/>
            <a:ext cx="733720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	                  Gewinnverwendung                                                                </a:t>
            </a:r>
          </a:p>
          <a:p>
            <a:r>
              <a:rPr lang="de-DE" dirty="0"/>
              <a:t>				</a:t>
            </a:r>
          </a:p>
          <a:p>
            <a:endParaRPr lang="de-DE" dirty="0"/>
          </a:p>
          <a:p>
            <a:r>
              <a:rPr lang="de-DE" dirty="0"/>
              <a:t>	+ -	Jahresüberschuss oder –Fehlbetrag</a:t>
            </a:r>
          </a:p>
          <a:p>
            <a:r>
              <a:rPr lang="de-DE" dirty="0"/>
              <a:t>		des abgelaufenen Geschäftsjahres</a:t>
            </a:r>
          </a:p>
          <a:p>
            <a:endParaRPr lang="de-DE" dirty="0"/>
          </a:p>
          <a:p>
            <a:r>
              <a:rPr lang="de-DE" dirty="0"/>
              <a:t>	+ -	Gewinn- oder Verlustvortrag aus dem Vorjahr</a:t>
            </a:r>
          </a:p>
          <a:p>
            <a:endParaRPr lang="de-DE" dirty="0"/>
          </a:p>
          <a:p>
            <a:r>
              <a:rPr lang="de-DE" dirty="0"/>
              <a:t>	+ -	Einstellung in oder Entnahme aus den Rücklagen</a:t>
            </a:r>
          </a:p>
          <a:p>
            <a:endParaRPr lang="de-DE" dirty="0"/>
          </a:p>
          <a:p>
            <a:r>
              <a:rPr lang="de-DE" dirty="0"/>
              <a:t>	   -	Dividende an die Anteilseigner</a:t>
            </a:r>
          </a:p>
          <a:p>
            <a:endParaRPr lang="de-DE" dirty="0"/>
          </a:p>
          <a:p>
            <a:r>
              <a:rPr lang="de-DE" dirty="0"/>
              <a:t>	=	Bilanzgewinn- oder Verlust</a:t>
            </a:r>
          </a:p>
          <a:p>
            <a:r>
              <a:rPr lang="de-DE" dirty="0"/>
              <a:t>		</a:t>
            </a:r>
            <a:r>
              <a:rPr lang="de-DE" dirty="0">
                <a:sym typeface="Wingdings" panose="05000000000000000000" pitchFamily="2" charset="2"/>
              </a:rPr>
              <a:t> Vortrag ins Folgejahr</a:t>
            </a:r>
            <a:endParaRPr lang="de-DE" dirty="0"/>
          </a:p>
          <a:p>
            <a:r>
              <a:rPr lang="de-DE" dirty="0"/>
              <a:t>		</a:t>
            </a:r>
          </a:p>
          <a:p>
            <a:r>
              <a:rPr lang="de-DE" dirty="0"/>
              <a:t>		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3082638" y="1700808"/>
            <a:ext cx="5660967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8733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796" y="615142"/>
            <a:ext cx="8744989" cy="544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972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3133898" y="1554480"/>
            <a:ext cx="706257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Stille Reserven oder stille Rücklagen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Unterschiedsbetrag zwischen dem Buchwert in der Bilanz</a:t>
            </a:r>
          </a:p>
          <a:p>
            <a:r>
              <a:rPr lang="de-DE" dirty="0"/>
              <a:t>und dem tatsächlich höheren Verkehrswert eines Vermögensgegenstands</a:t>
            </a:r>
          </a:p>
          <a:p>
            <a:endParaRPr lang="de-DE" dirty="0"/>
          </a:p>
          <a:p>
            <a:r>
              <a:rPr lang="de-DE" dirty="0"/>
              <a:t>Bei Veräußerung wird diese stille Reserve realisiert und als</a:t>
            </a:r>
          </a:p>
          <a:p>
            <a:r>
              <a:rPr lang="de-DE" dirty="0"/>
              <a:t>Ertrag ausgewiesen.</a:t>
            </a:r>
          </a:p>
          <a:p>
            <a:endParaRPr lang="de-DE" dirty="0"/>
          </a:p>
          <a:p>
            <a:r>
              <a:rPr lang="de-DE" dirty="0"/>
              <a:t>Hierauf zahlt das Unternehmen Körperschaft- und Gewerbesteuer.</a:t>
            </a:r>
          </a:p>
          <a:p>
            <a:endParaRPr lang="de-DE" dirty="0"/>
          </a:p>
          <a:p>
            <a:r>
              <a:rPr lang="de-DE" dirty="0"/>
              <a:t>Dadurch wird dem Unternehmen soviel Liquidität entzogen,</a:t>
            </a:r>
          </a:p>
          <a:p>
            <a:r>
              <a:rPr lang="de-DE" dirty="0"/>
              <a:t>dass es sich eine Ersatzinvestition nicht mehr leisten kann.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70320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3133898" y="1554480"/>
            <a:ext cx="566744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Eine Sonderregelung im Steuerrecht ( § 6b EStG )</a:t>
            </a:r>
          </a:p>
          <a:p>
            <a:r>
              <a:rPr lang="de-DE" dirty="0"/>
              <a:t>lässt unter bestimmten Voraussetzungen zu,</a:t>
            </a:r>
          </a:p>
          <a:p>
            <a:r>
              <a:rPr lang="de-DE" dirty="0"/>
              <a:t>dass eine solche aufgedeckte stille Reserve</a:t>
            </a:r>
          </a:p>
          <a:p>
            <a:r>
              <a:rPr lang="de-DE" dirty="0"/>
              <a:t>nicht versteuert werden muss und</a:t>
            </a:r>
          </a:p>
          <a:p>
            <a:r>
              <a:rPr lang="de-DE" dirty="0"/>
              <a:t>auf eine Ersatzinvestition übertragen werden kann.</a:t>
            </a:r>
          </a:p>
          <a:p>
            <a:endParaRPr lang="de-DE" dirty="0"/>
          </a:p>
          <a:p>
            <a:r>
              <a:rPr lang="de-DE" dirty="0"/>
              <a:t>Dieser Gewinn wird aus der GuV heraus genommen</a:t>
            </a:r>
          </a:p>
          <a:p>
            <a:r>
              <a:rPr lang="de-DE" dirty="0"/>
              <a:t>und im Eigenkapital als „Sonderposten mit Rücklageanteil“</a:t>
            </a:r>
          </a:p>
          <a:p>
            <a:r>
              <a:rPr lang="de-DE" dirty="0"/>
              <a:t>zunächst geparkt.</a:t>
            </a:r>
          </a:p>
          <a:p>
            <a:endParaRPr lang="de-DE" dirty="0"/>
          </a:p>
          <a:p>
            <a:r>
              <a:rPr lang="de-DE" dirty="0"/>
              <a:t>Wird die Ersatzinvestition getätigt, so wird dieser Wert</a:t>
            </a:r>
          </a:p>
          <a:p>
            <a:r>
              <a:rPr lang="de-DE" dirty="0"/>
              <a:t>von den aktuellen Anschaffungskosten abgezogen</a:t>
            </a:r>
          </a:p>
          <a:p>
            <a:endParaRPr lang="de-DE" dirty="0"/>
          </a:p>
          <a:p>
            <a:r>
              <a:rPr lang="de-DE" dirty="0"/>
              <a:t>und die stille Reserve dadurch auf den neuen</a:t>
            </a:r>
          </a:p>
          <a:p>
            <a:r>
              <a:rPr lang="de-DE" dirty="0"/>
              <a:t>Vermögensgegenstand übertragen.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563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920240" y="1271847"/>
            <a:ext cx="63382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 E 6 )</a:t>
            </a:r>
          </a:p>
          <a:p>
            <a:endParaRPr lang="de-DE" dirty="0"/>
          </a:p>
          <a:p>
            <a:r>
              <a:rPr lang="de-DE" dirty="0"/>
              <a:t>Woher hat das „Haftkapital“ seinen Namen ?</a:t>
            </a:r>
          </a:p>
          <a:p>
            <a:endParaRPr lang="de-DE" dirty="0"/>
          </a:p>
          <a:p>
            <a:r>
              <a:rPr lang="de-DE" dirty="0"/>
              <a:t>Wie heißt es bei der AG und GmbH</a:t>
            </a:r>
          </a:p>
          <a:p>
            <a:r>
              <a:rPr lang="de-DE" dirty="0"/>
              <a:t>und welche Mindestbeträge und Stückelungen sind zu beachten ?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29885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353196" y="1196752"/>
            <a:ext cx="7439665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	                  Gezeichnetes Kapital                                                                 </a:t>
            </a:r>
          </a:p>
          <a:p>
            <a:r>
              <a:rPr lang="de-DE" dirty="0"/>
              <a:t>		</a:t>
            </a:r>
          </a:p>
          <a:p>
            <a:r>
              <a:rPr lang="de-DE" dirty="0"/>
              <a:t>		</a:t>
            </a:r>
          </a:p>
          <a:p>
            <a:r>
              <a:rPr lang="de-DE" dirty="0"/>
              <a:t>		= Haftkapital, Ansatz zum Nennwert</a:t>
            </a:r>
          </a:p>
          <a:p>
            <a:endParaRPr lang="de-DE" dirty="0"/>
          </a:p>
          <a:p>
            <a:r>
              <a:rPr lang="de-DE" dirty="0"/>
              <a:t>		damit haften die Gesellschafter oder Aktionäre</a:t>
            </a:r>
          </a:p>
          <a:p>
            <a:r>
              <a:rPr lang="de-DE" dirty="0"/>
              <a:t>		für Schulden der Kapitalgesellschaft</a:t>
            </a:r>
          </a:p>
          <a:p>
            <a:endParaRPr lang="de-DE" dirty="0"/>
          </a:p>
          <a:p>
            <a:r>
              <a:rPr lang="de-DE" dirty="0"/>
              <a:t>		Grundkapital bei AG</a:t>
            </a:r>
          </a:p>
          <a:p>
            <a:r>
              <a:rPr lang="de-DE" dirty="0"/>
              <a:t>		mindestens 50.000 Euro</a:t>
            </a:r>
          </a:p>
          <a:p>
            <a:endParaRPr lang="de-DE" dirty="0"/>
          </a:p>
          <a:p>
            <a:r>
              <a:rPr lang="de-DE" dirty="0"/>
              <a:t>		Stammkapital bei GmbH</a:t>
            </a:r>
          </a:p>
          <a:p>
            <a:r>
              <a:rPr lang="de-DE" dirty="0"/>
              <a:t>		mindestens 25.000 Euro </a:t>
            </a:r>
          </a:p>
          <a:p>
            <a:endParaRPr lang="de-DE" dirty="0"/>
          </a:p>
          <a:p>
            <a:r>
              <a:rPr lang="de-DE" dirty="0"/>
              <a:t>		eventuell </a:t>
            </a:r>
          </a:p>
          <a:p>
            <a:r>
              <a:rPr lang="de-DE" dirty="0"/>
              <a:t>		ausstehende Einlagen </a:t>
            </a:r>
          </a:p>
          <a:p>
            <a:r>
              <a:rPr lang="de-DE" dirty="0"/>
              <a:t>		</a:t>
            </a:r>
          </a:p>
          <a:p>
            <a:r>
              <a:rPr lang="de-DE" dirty="0"/>
              <a:t>		Stückelung mindestens ein Euro</a:t>
            </a:r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3082638" y="1995055"/>
            <a:ext cx="5660967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476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2775</Words>
  <Application>Microsoft Office PowerPoint</Application>
  <PresentationFormat>Breitbild</PresentationFormat>
  <Paragraphs>847</Paragraphs>
  <Slides>69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69</vt:i4>
      </vt:variant>
    </vt:vector>
  </HeadingPairs>
  <TitlesOfParts>
    <vt:vector size="74" baseType="lpstr">
      <vt:lpstr>Arial</vt:lpstr>
      <vt:lpstr>Calibri</vt:lpstr>
      <vt:lpstr>Calibri Light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Thomas Morstatt</dc:creator>
  <cp:lastModifiedBy>Thomas Morstatt | Steuerberater-Sozietät Morstatt</cp:lastModifiedBy>
  <cp:revision>33</cp:revision>
  <dcterms:created xsi:type="dcterms:W3CDTF">2021-06-13T19:55:08Z</dcterms:created>
  <dcterms:modified xsi:type="dcterms:W3CDTF">2026-05-18T09:42:33Z</dcterms:modified>
</cp:coreProperties>
</file>